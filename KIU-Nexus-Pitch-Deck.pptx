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are the KIU Capstone Team and this is KIU Nexus — a single prioritized academic feed for third-year Computer Science students at KIU. Over the next few minutes we will show you the problem we discovered through interviews, the solution we built, and why we believe this is worth funding and deploying this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ICP is a third-year KIU CS student enrolled in three or more project-based courses. They spend 30 to 40 minutes every day checking Moodle, Teams, Messenger, Discord, and WhatsApp — and they still miss things. Our discovery interviews show at least one missed deadline per student per semester. The cost is not just points — students told us they lie to professors, lose sleep, and question themselves. This quote is from a real interview, verbatim. Pause here and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simple: one feed, one action. KIU Nexus reads all five platforms the student already uses, applies intelligent triage to find what is actually critical, and surfaces those items in priority order. The student opens the app, sees three things that matter this week, taps one, and is done. No manual entry. No maintenance. That is the key: zero ongoing student input after onboarding.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the right moment to build KIU Nexus? Four reasons. First, platform fragmentation is now the default at KIU — not a bug, but the way the institution works. Second, we do not need professors to change behavior; we ingest the channels they already use. Third, students have tried everything else and failed — the market has pre-validated that no current workaround works. Fourth, modern APIs make this technically feasible today with a student-scale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starting with the tightest possible beachhead: 200 third-year CS students at KIU, our SOM, generating 19,200 GEL ARR at 8 GEL per month. Once we prove the model there, the SAM expands to 2,000 Georgian CS students across project-heavy programs, and the TAM is every Georgian university student at an institution with similar platform fragmentation — 300,000 students, 28.8 million GEL ARR. We are not chasing TAM on day one. We are proving the beachhead.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KIU Nexus dashboard. The product is built. The MVP activation flow is implemented, the acknowledge_update event is tracking in Mixpanel, and the app is on a staging branch ready for deployment. Show the demo here if you have the staging preview available. The key message: students see a prioritized feed of only what matters, and they can acknowledge and plan in one tap. No manual entry. No maintenance. The product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pre-launch, but the foundation is solid. Eight on-topic discovery interviews with our exact ICP. The MVP is built with the full activation flow. Mixpanel is configured and the acknowledge_update event is live. Our go-to-market channels are mapped: Messenger groups, bridge-student referrals, and Discord communities. 4-week targets: 100 visitors, 40 signups, 20 activations, 30 percent of active users inviting a teammate.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has two phases. Phase 1 is a free student MVP to prove retention and activation. Phase 2 is an institutional site licence sold to KIU directly for third-year CS cohorts. Our unit economics come from the DormSync model adapted for the student segment: blended CAC of $6.33, LTV of $25.80, and a 4.1-to-1 LTV:CAC ratio. Payback period is approximately one month. Even in the conservative sensitivity scenario, the ratio stays above 2.0, which is acceptable for an early-stage campus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competitive landscape. Moodle is mandatory but doesn't aggregate other channels. Teams is noisy and wasn't built for deadline triage. Calendar and Notion require manual maintenance — our interviews showed students abandon them within four weeks. Discord is social-only. KIU Nexus is the only product that does the one job students actually need: zero-maintenance aggregation with intelligent triage. Our moat is switching costs: habit formation, workflow dependency, and eventually faculty integration. Once professors are broadcasting through KIU Nexus, neither side wants to migrate.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ask. We are raising 60,000 GEL at a 250,000 GEL pre-money valuation. The funds will be used to deploy KIU Nexus to 200 students, validate retention, and secure the first faculty announcement pilot. We are also asking for two non-financial resources: KIU IT access to formalize the API partnership, and one professor willing to broadcast one critical announcement per week through KIU Nexus this Fall. That faculty commitment creates our first institutional switching cost and is the foundation of our moat. We are not asking for permission to solve this problem. We have already solved it. We are asking for the runway to prove it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ellipse">
            <a:avLst/>
          </a:prstGeom>
          <a:solidFill>
            <a:srgbClr val="0D9488">
              <a:alpha val="18000"/>
            </a:srgbClr>
          </a:solidFill>
          <a:ln w="12700">
            <a:solidFill>
              <a:srgbClr val="0D9488">
                <a:alpha val="18000"/>
              </a:srgbClr>
            </a:solidFill>
            <a:prstDash val="solid"/>
          </a:ln>
        </p:spPr>
      </p:sp>
      <p:sp>
        <p:nvSpPr>
          <p:cNvPr id="3" name="Shape 1"/>
          <p:cNvSpPr/>
          <p:nvPr/>
        </p:nvSpPr>
        <p:spPr>
          <a:xfrm>
            <a:off x="6858000" y="2286000"/>
            <a:ext cx="3200400" cy="3200400"/>
          </a:xfrm>
          <a:prstGeom prst="ellipse">
            <a:avLst/>
          </a:prstGeom>
          <a:solidFill>
            <a:srgbClr val="14B8A6">
              <a:alpha val="12000"/>
            </a:srgbClr>
          </a:solidFill>
          <a:ln w="12700">
            <a:solidFill>
              <a:srgbClr val="14B8A6">
                <a:alpha val="12000"/>
              </a:srgbClr>
            </a:solidFill>
            <a:prstDash val="solid"/>
          </a:ln>
        </p:spPr>
      </p:sp>
      <p:sp>
        <p:nvSpPr>
          <p:cNvPr id="4" name="Shape 2"/>
          <p:cNvSpPr/>
          <p:nvPr/>
        </p:nvSpPr>
        <p:spPr>
          <a:xfrm>
            <a:off x="502920" y="960120"/>
            <a:ext cx="1737360" cy="310896"/>
          </a:xfrm>
          <a:prstGeom prst="roundRect">
            <a:avLst>
              <a:gd name="adj" fmla="val 14706"/>
            </a:avLst>
          </a:prstGeom>
          <a:solidFill>
            <a:srgbClr val="0D9488">
              <a:alpha val="30000"/>
            </a:srgbClr>
          </a:solidFill>
          <a:ln w="12700">
            <a:solidFill>
              <a:srgbClr val="0D9488"/>
            </a:solidFill>
            <a:prstDash val="solid"/>
          </a:ln>
        </p:spPr>
      </p:sp>
      <p:sp>
        <p:nvSpPr>
          <p:cNvPr id="5" name="Text 3"/>
          <p:cNvSpPr/>
          <p:nvPr/>
        </p:nvSpPr>
        <p:spPr>
          <a:xfrm>
            <a:off x="502920" y="960120"/>
            <a:ext cx="1737360" cy="310896"/>
          </a:xfrm>
          <a:prstGeom prst="rect">
            <a:avLst/>
          </a:prstGeom>
          <a:noFill/>
          <a:ln/>
        </p:spPr>
        <p:txBody>
          <a:bodyPr wrap="square" lIns="0" tIns="0" rIns="0" bIns="0" rtlCol="0" anchor="ctr"/>
          <a:lstStyle/>
          <a:p>
            <a:pPr algn="ctr" indent="0" marL="0">
              <a:buNone/>
            </a:pPr>
            <a:r>
              <a:rPr lang="en-US" sz="800" b="1" dirty="0">
                <a:solidFill>
                  <a:srgbClr val="14B8A6"/>
                </a:solidFill>
                <a:latin typeface="Calibri" pitchFamily="34" charset="0"/>
                <a:ea typeface="Calibri" pitchFamily="34" charset="-122"/>
                <a:cs typeface="Calibri" pitchFamily="34" charset="-120"/>
              </a:rPr>
              <a:t>PITCH DECK · 2026</a:t>
            </a:r>
            <a:endParaRPr lang="en-US" sz="800" dirty="0"/>
          </a:p>
        </p:txBody>
      </p:sp>
      <p:sp>
        <p:nvSpPr>
          <p:cNvPr id="6" name="Text 4"/>
          <p:cNvSpPr/>
          <p:nvPr/>
        </p:nvSpPr>
        <p:spPr>
          <a:xfrm>
            <a:off x="457200" y="1417320"/>
            <a:ext cx="6400800" cy="1097280"/>
          </a:xfrm>
          <a:prstGeom prst="rect">
            <a:avLst/>
          </a:prstGeom>
          <a:noFill/>
          <a:ln/>
        </p:spPr>
        <p:txBody>
          <a:bodyPr wrap="square" lIns="0" tIns="0" rIns="0" bIns="0" rtlCol="0" anchor="ctr"/>
          <a:lstStyle/>
          <a:p>
            <a:pPr algn="l" indent="0" marL="0">
              <a:buNone/>
            </a:pPr>
            <a:r>
              <a:rPr lang="en-US" sz="5800" b="1" dirty="0">
                <a:solidFill>
                  <a:srgbClr val="FFFFFF"/>
                </a:solidFill>
                <a:latin typeface="Cambria" pitchFamily="34" charset="0"/>
                <a:ea typeface="Cambria" pitchFamily="34" charset="-122"/>
                <a:cs typeface="Cambria" pitchFamily="34" charset="-120"/>
              </a:rPr>
              <a:t>KIU Nexus</a:t>
            </a:r>
            <a:endParaRPr lang="en-US" sz="5800" dirty="0"/>
          </a:p>
        </p:txBody>
      </p:sp>
      <p:sp>
        <p:nvSpPr>
          <p:cNvPr id="7" name="Text 5"/>
          <p:cNvSpPr/>
          <p:nvPr/>
        </p:nvSpPr>
        <p:spPr>
          <a:xfrm>
            <a:off x="457200" y="2606040"/>
            <a:ext cx="6400800" cy="914400"/>
          </a:xfrm>
          <a:prstGeom prst="rect">
            <a:avLst/>
          </a:prstGeom>
          <a:noFill/>
          <a:ln/>
        </p:spPr>
        <p:txBody>
          <a:bodyPr wrap="square" lIns="0" tIns="0" rIns="0" bIns="0" rtlCol="0" anchor="t"/>
          <a:lstStyle/>
          <a:p>
            <a:pPr algn="l" indent="0" marL="0">
              <a:buNone/>
            </a:pPr>
            <a:r>
              <a:rPr lang="en-US" sz="2000" dirty="0">
                <a:solidFill>
                  <a:srgbClr val="14B8A6"/>
                </a:solidFill>
                <a:latin typeface="Calibri" pitchFamily="34" charset="0"/>
                <a:ea typeface="Calibri" pitchFamily="34" charset="-122"/>
                <a:cs typeface="Calibri" pitchFamily="34" charset="-120"/>
              </a:rPr>
              <a:t>A single prioritized academic feed</a:t>
            </a:r>
            <a:endParaRPr lang="en-US" sz="2000" dirty="0"/>
          </a:p>
          <a:p>
            <a:pPr algn="l" indent="0" marL="0">
              <a:buNone/>
            </a:pPr>
            <a:r>
              <a:rPr lang="en-US" sz="2000" dirty="0">
                <a:solidFill>
                  <a:srgbClr val="14B8A6"/>
                </a:solidFill>
                <a:latin typeface="Calibri" pitchFamily="34" charset="0"/>
                <a:ea typeface="Calibri" pitchFamily="34" charset="-122"/>
                <a:cs typeface="Calibri" pitchFamily="34" charset="-120"/>
              </a:rPr>
              <a:t>for KIU CS students.</a:t>
            </a:r>
            <a:endParaRPr lang="en-US" sz="2000" dirty="0"/>
          </a:p>
        </p:txBody>
      </p:sp>
      <p:sp>
        <p:nvSpPr>
          <p:cNvPr id="8" name="Text 6"/>
          <p:cNvSpPr/>
          <p:nvPr/>
        </p:nvSpPr>
        <p:spPr>
          <a:xfrm>
            <a:off x="457200" y="4114800"/>
            <a:ext cx="8229600" cy="36576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Archil Margvelashvili  ·  Nikoloz Jvebenava  ·  Giorgi Papidze  ·  Giorgi Kveladze</a:t>
            </a:r>
            <a:endParaRPr lang="en-US" sz="1100" dirty="0"/>
          </a:p>
        </p:txBody>
      </p:sp>
      <p:sp>
        <p:nvSpPr>
          <p:cNvPr id="9" name="Text 7"/>
          <p:cNvSpPr/>
          <p:nvPr/>
        </p:nvSpPr>
        <p:spPr>
          <a:xfrm>
            <a:off x="457200" y="4526280"/>
            <a:ext cx="8229600" cy="32004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KIU Capstone Program · 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The Problem</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Third-year KIU CS students waste hours chasing information they can't afford to miss</a:t>
            </a:r>
            <a:endParaRPr lang="en-US" sz="1200" dirty="0"/>
          </a:p>
        </p:txBody>
      </p:sp>
      <p:sp>
        <p:nvSpPr>
          <p:cNvPr id="5" name="Shape 3"/>
          <p:cNvSpPr/>
          <p:nvPr/>
        </p:nvSpPr>
        <p:spPr>
          <a:xfrm>
            <a:off x="365760" y="1188720"/>
            <a:ext cx="2651760" cy="1280160"/>
          </a:xfrm>
          <a:prstGeom prst="roundRect">
            <a:avLst>
              <a:gd name="adj" fmla="val 7143"/>
            </a:avLst>
          </a:prstGeom>
          <a:solidFill>
            <a:srgbClr val="0A1628"/>
          </a:solidFill>
          <a:ln/>
          <a:effectLst>
            <a:outerShdw sx="100000" sy="100000" kx="0" ky="0" algn="bl" rotWithShape="0" blurRad="101600" dist="38100" dir="2700000">
              <a:srgbClr val="000000">
                <a:alpha val="14000"/>
              </a:srgbClr>
            </a:outerShdw>
          </a:effectLst>
        </p:spPr>
      </p:sp>
      <p:sp>
        <p:nvSpPr>
          <p:cNvPr id="6" name="Text 4"/>
          <p:cNvSpPr/>
          <p:nvPr/>
        </p:nvSpPr>
        <p:spPr>
          <a:xfrm>
            <a:off x="365760" y="1234440"/>
            <a:ext cx="2651760" cy="822960"/>
          </a:xfrm>
          <a:prstGeom prst="rect">
            <a:avLst/>
          </a:prstGeom>
          <a:noFill/>
          <a:ln/>
        </p:spPr>
        <p:txBody>
          <a:bodyPr wrap="square" lIns="0" tIns="0" rIns="0" bIns="0" rtlCol="0" anchor="ctr"/>
          <a:lstStyle/>
          <a:p>
            <a:pPr algn="ctr" indent="0" marL="0">
              <a:buNone/>
            </a:pPr>
            <a:r>
              <a:rPr lang="en-US" sz="4400" b="1" dirty="0">
                <a:solidFill>
                  <a:srgbClr val="14B8A6"/>
                </a:solidFill>
                <a:latin typeface="Cambria" pitchFamily="34" charset="0"/>
                <a:ea typeface="Cambria" pitchFamily="34" charset="-122"/>
                <a:cs typeface="Cambria" pitchFamily="34" charset="-120"/>
              </a:rPr>
              <a:t>30–40</a:t>
            </a:r>
            <a:endParaRPr lang="en-US" sz="4400" dirty="0"/>
          </a:p>
        </p:txBody>
      </p:sp>
      <p:sp>
        <p:nvSpPr>
          <p:cNvPr id="7" name="Text 5"/>
          <p:cNvSpPr/>
          <p:nvPr/>
        </p:nvSpPr>
        <p:spPr>
          <a:xfrm>
            <a:off x="365760" y="1920240"/>
            <a:ext cx="2651760" cy="45720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min/day on manual sweeps</a:t>
            </a:r>
            <a:endParaRPr lang="en-US" sz="1100" dirty="0"/>
          </a:p>
        </p:txBody>
      </p:sp>
      <p:sp>
        <p:nvSpPr>
          <p:cNvPr id="8" name="Shape 6"/>
          <p:cNvSpPr/>
          <p:nvPr/>
        </p:nvSpPr>
        <p:spPr>
          <a:xfrm>
            <a:off x="365760" y="2606040"/>
            <a:ext cx="2651760" cy="1280160"/>
          </a:xfrm>
          <a:prstGeom prst="roundRect">
            <a:avLst>
              <a:gd name="adj" fmla="val 7143"/>
            </a:avLst>
          </a:prstGeom>
          <a:solidFill>
            <a:srgbClr val="0A1628"/>
          </a:solidFill>
          <a:ln/>
          <a:effectLst>
            <a:outerShdw sx="100000" sy="100000" kx="0" ky="0" algn="bl" rotWithShape="0" blurRad="101600" dist="38100" dir="2700000">
              <a:srgbClr val="000000">
                <a:alpha val="14000"/>
              </a:srgbClr>
            </a:outerShdw>
          </a:effectLst>
        </p:spPr>
      </p:sp>
      <p:sp>
        <p:nvSpPr>
          <p:cNvPr id="9" name="Text 7"/>
          <p:cNvSpPr/>
          <p:nvPr/>
        </p:nvSpPr>
        <p:spPr>
          <a:xfrm>
            <a:off x="365760" y="2651760"/>
            <a:ext cx="2651760" cy="822960"/>
          </a:xfrm>
          <a:prstGeom prst="rect">
            <a:avLst/>
          </a:prstGeom>
          <a:noFill/>
          <a:ln/>
        </p:spPr>
        <p:txBody>
          <a:bodyPr wrap="square" lIns="0" tIns="0" rIns="0" bIns="0" rtlCol="0" anchor="ctr"/>
          <a:lstStyle/>
          <a:p>
            <a:pPr algn="ctr" indent="0" marL="0">
              <a:buNone/>
            </a:pPr>
            <a:r>
              <a:rPr lang="en-US" sz="4400" b="1" dirty="0">
                <a:solidFill>
                  <a:srgbClr val="F59E0B"/>
                </a:solidFill>
                <a:latin typeface="Cambria" pitchFamily="34" charset="0"/>
                <a:ea typeface="Cambria" pitchFamily="34" charset="-122"/>
                <a:cs typeface="Cambria" pitchFamily="34" charset="-120"/>
              </a:rPr>
              <a:t>5</a:t>
            </a:r>
            <a:endParaRPr lang="en-US" sz="4400" dirty="0"/>
          </a:p>
        </p:txBody>
      </p:sp>
      <p:sp>
        <p:nvSpPr>
          <p:cNvPr id="10" name="Text 8"/>
          <p:cNvSpPr/>
          <p:nvPr/>
        </p:nvSpPr>
        <p:spPr>
          <a:xfrm>
            <a:off x="365760" y="3337560"/>
            <a:ext cx="2651760" cy="45720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platforms checked daily</a:t>
            </a:r>
            <a:endParaRPr lang="en-US" sz="1100" dirty="0"/>
          </a:p>
        </p:txBody>
      </p:sp>
      <p:sp>
        <p:nvSpPr>
          <p:cNvPr id="11" name="Text 9"/>
          <p:cNvSpPr/>
          <p:nvPr/>
        </p:nvSpPr>
        <p:spPr>
          <a:xfrm>
            <a:off x="3246120" y="1188720"/>
            <a:ext cx="5577840" cy="365760"/>
          </a:xfrm>
          <a:prstGeom prst="rect">
            <a:avLst/>
          </a:prstGeom>
          <a:noFill/>
          <a:ln/>
        </p:spPr>
        <p:txBody>
          <a:bodyPr wrap="square" lIns="0" tIns="0" rIns="0" bIns="0" rtlCol="0" anchor="ctr"/>
          <a:lstStyle/>
          <a:p>
            <a:pPr algn="l" indent="0" marL="0">
              <a:buNone/>
            </a:pPr>
            <a:r>
              <a:rPr lang="en-US" sz="1100" b="1" dirty="0">
                <a:solidFill>
                  <a:srgbClr val="0D9488"/>
                </a:solidFill>
                <a:latin typeface="Calibri" pitchFamily="34" charset="0"/>
                <a:ea typeface="Calibri" pitchFamily="34" charset="-122"/>
                <a:cs typeface="Calibri" pitchFamily="34" charset="-120"/>
              </a:rPr>
              <a:t>Moodle  ·  MS Teams  ·  Messenger  ·  Discord  ·  WhatsApp</a:t>
            </a:r>
            <a:endParaRPr lang="en-US" sz="1100" dirty="0"/>
          </a:p>
        </p:txBody>
      </p:sp>
      <p:sp>
        <p:nvSpPr>
          <p:cNvPr id="12" name="Text 10"/>
          <p:cNvSpPr/>
          <p:nvPr/>
        </p:nvSpPr>
        <p:spPr>
          <a:xfrm>
            <a:off x="3246120" y="1645920"/>
            <a:ext cx="5577840" cy="1371600"/>
          </a:xfrm>
          <a:prstGeom prst="rect">
            <a:avLst/>
          </a:prstGeom>
          <a:noFill/>
          <a:ln/>
        </p:spPr>
        <p:txBody>
          <a:bodyPr wrap="square" lIns="0" tIns="0" rIns="0" bIns="0" rtlCol="0" anchor="t"/>
          <a:lstStyle/>
          <a:p>
            <a:pPr algn="l" indent="0" marL="0">
              <a:buNone/>
            </a:pPr>
            <a:r>
              <a:rPr lang="en-US" sz="1300" dirty="0">
                <a:solidFill>
                  <a:srgbClr val="1E293B"/>
                </a:solidFill>
                <a:latin typeface="Calibri" pitchFamily="34" charset="0"/>
                <a:ea typeface="Calibri" pitchFamily="34" charset="-122"/>
                <a:cs typeface="Calibri" pitchFamily="34" charset="-120"/>
              </a:rPr>
              <a:t>Students enrolled in 3+ project courses are forced to manually sweep five platforms every day.
</a:t>
            </a:r>
            <a:pPr algn="l" indent="0" marL="0">
              <a:buNone/>
            </a:pPr>
            <a:r>
              <a:rPr lang="en-US" sz="1300" dirty="0">
                <a:solidFill>
                  <a:srgbClr val="1E293B"/>
                </a:solidFill>
                <a:latin typeface="Calibri" pitchFamily="34" charset="0"/>
                <a:ea typeface="Calibri" pitchFamily="34" charset="-122"/>
                <a:cs typeface="Calibri" pitchFamily="34" charset="-120"/>
              </a:rPr>
              <a:t>Professors post updates inconsistently — a deadline change in Teams, a format update in Moodle, a clarification buried in a group chat. The result: missed announcements, lost grade points, and real integrity costs.</a:t>
            </a:r>
            <a:endParaRPr lang="en-US" sz="1300" dirty="0"/>
          </a:p>
        </p:txBody>
      </p:sp>
      <p:sp>
        <p:nvSpPr>
          <p:cNvPr id="13" name="Shape 11"/>
          <p:cNvSpPr/>
          <p:nvPr/>
        </p:nvSpPr>
        <p:spPr>
          <a:xfrm>
            <a:off x="3246120" y="3063240"/>
            <a:ext cx="5577840" cy="1691640"/>
          </a:xfrm>
          <a:prstGeom prst="roundRect">
            <a:avLst>
              <a:gd name="adj" fmla="val 5405"/>
            </a:avLst>
          </a:prstGeom>
          <a:solidFill>
            <a:srgbClr val="FEF3C7"/>
          </a:solidFill>
          <a:ln/>
          <a:effectLst>
            <a:outerShdw sx="100000" sy="100000" kx="0" ky="0" algn="bl" rotWithShape="0" blurRad="76200" dist="25400" dir="2700000">
              <a:srgbClr val="000000">
                <a:alpha val="10000"/>
              </a:srgbClr>
            </a:outerShdw>
          </a:effectLst>
        </p:spPr>
      </p:sp>
      <p:sp>
        <p:nvSpPr>
          <p:cNvPr id="14" name="Text 12"/>
          <p:cNvSpPr/>
          <p:nvPr/>
        </p:nvSpPr>
        <p:spPr>
          <a:xfrm>
            <a:off x="3337560" y="3035808"/>
            <a:ext cx="548640" cy="548640"/>
          </a:xfrm>
          <a:prstGeom prst="rect">
            <a:avLst/>
          </a:prstGeom>
          <a:noFill/>
          <a:ln/>
        </p:spPr>
        <p:txBody>
          <a:bodyPr wrap="square" lIns="0" tIns="0" rIns="0" bIns="0" rtlCol="0" anchor="t"/>
          <a:lstStyle/>
          <a:p>
            <a:pPr algn="l" indent="0" marL="0">
              <a:buNone/>
            </a:pPr>
            <a:r>
              <a:rPr lang="en-US" sz="4800" b="1" dirty="0">
                <a:solidFill>
                  <a:srgbClr val="F59E0B"/>
                </a:solidFill>
                <a:latin typeface="Cambria" pitchFamily="34" charset="0"/>
                <a:ea typeface="Cambria" pitchFamily="34" charset="-122"/>
                <a:cs typeface="Cambria" pitchFamily="34" charset="-120"/>
              </a:rPr>
              <a:t>“</a:t>
            </a:r>
            <a:endParaRPr lang="en-US" sz="4800" dirty="0"/>
          </a:p>
        </p:txBody>
      </p:sp>
      <p:sp>
        <p:nvSpPr>
          <p:cNvPr id="15" name="Text 13"/>
          <p:cNvSpPr/>
          <p:nvPr/>
        </p:nvSpPr>
        <p:spPr>
          <a:xfrm>
            <a:off x="3383280" y="3383280"/>
            <a:ext cx="5303520" cy="1005840"/>
          </a:xfrm>
          <a:prstGeom prst="rect">
            <a:avLst/>
          </a:prstGeom>
          <a:noFill/>
          <a:ln/>
        </p:spPr>
        <p:txBody>
          <a:bodyPr wrap="square" lIns="0" tIns="0" rIns="0" bIns="0" rtlCol="0" anchor="t"/>
          <a:lstStyle/>
          <a:p>
            <a:pPr algn="l" indent="0" marL="0">
              <a:buNone/>
            </a:pPr>
            <a:r>
              <a:rPr lang="en-US" sz="1200" i="1" dirty="0">
                <a:solidFill>
                  <a:srgbClr val="1E293B"/>
                </a:solidFill>
                <a:latin typeface="Calibri" pitchFamily="34" charset="0"/>
                <a:ea typeface="Calibri" pitchFamily="34" charset="-122"/>
                <a:cs typeface="Calibri" pitchFamily="34" charset="-120"/>
              </a:rPr>
              <a:t>I emailed the professor and I lied. I said I had a family thing. He gave me twelve hours. I worked the whole night. I got the points but I felt like a loser.</a:t>
            </a:r>
            <a:endParaRPr lang="en-US" sz="1200" dirty="0"/>
          </a:p>
        </p:txBody>
      </p:sp>
      <p:sp>
        <p:nvSpPr>
          <p:cNvPr id="16" name="Text 14"/>
          <p:cNvSpPr/>
          <p:nvPr/>
        </p:nvSpPr>
        <p:spPr>
          <a:xfrm>
            <a:off x="3383280" y="4434840"/>
            <a:ext cx="530352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 TS-3CS, Third-year KIU CS student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The Solution</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One trusted feed. One action. Zero missed deadlines.</a:t>
            </a:r>
            <a:endParaRPr lang="en-US" sz="1200" dirty="0"/>
          </a:p>
        </p:txBody>
      </p:sp>
      <p:sp>
        <p:nvSpPr>
          <p:cNvPr id="5" name="Text 3"/>
          <p:cNvSpPr/>
          <p:nvPr/>
        </p:nvSpPr>
        <p:spPr>
          <a:xfrm>
            <a:off x="411480" y="1097280"/>
            <a:ext cx="5029200" cy="1280160"/>
          </a:xfrm>
          <a:prstGeom prst="rect">
            <a:avLst/>
          </a:prstGeom>
          <a:noFill/>
          <a:ln/>
        </p:spPr>
        <p:txBody>
          <a:bodyPr wrap="square" lIns="0" tIns="0" rIns="0" bIns="0" rtlCol="0" anchor="t"/>
          <a:lstStyle/>
          <a:p>
            <a:pPr algn="l" indent="0" marL="0">
              <a:buNone/>
            </a:pPr>
            <a:r>
              <a:rPr lang="en-US" sz="1400" dirty="0">
                <a:solidFill>
                  <a:srgbClr val="1E293B"/>
                </a:solidFill>
                <a:latin typeface="Calibri" pitchFamily="34" charset="0"/>
                <a:ea typeface="Calibri" pitchFamily="34" charset="-122"/>
                <a:cs typeface="Calibri" pitchFamily="34" charset="-120"/>
              </a:rPr>
              <a:t>KIU Nexus aggregates critical course announcements from all five platforms into one prioritized feed. Students see only what matters — and acknowledge urgent items into their weekly plan in a single tap.</a:t>
            </a:r>
            <a:endParaRPr lang="en-US" sz="1400" dirty="0"/>
          </a:p>
        </p:txBody>
      </p:sp>
      <p:sp>
        <p:nvSpPr>
          <p:cNvPr id="6" name="Shape 4"/>
          <p:cNvSpPr/>
          <p:nvPr/>
        </p:nvSpPr>
        <p:spPr>
          <a:xfrm>
            <a:off x="5577840" y="1097280"/>
            <a:ext cx="3246120" cy="1051560"/>
          </a:xfrm>
          <a:prstGeom prst="roundRect">
            <a:avLst>
              <a:gd name="adj" fmla="val 8696"/>
            </a:avLst>
          </a:prstGeom>
          <a:solidFill>
            <a:srgbClr val="0A1628"/>
          </a:solidFill>
          <a:ln/>
          <a:effectLst>
            <a:outerShdw sx="100000" sy="100000" kx="0" ky="0" algn="bl" rotWithShape="0" blurRad="76200" dist="25400" dir="2700000">
              <a:srgbClr val="000000">
                <a:alpha val="12000"/>
              </a:srgbClr>
            </a:outerShdw>
          </a:effectLst>
        </p:spPr>
      </p:sp>
      <p:sp>
        <p:nvSpPr>
          <p:cNvPr id="7" name="Text 5"/>
          <p:cNvSpPr/>
          <p:nvPr/>
        </p:nvSpPr>
        <p:spPr>
          <a:xfrm>
            <a:off x="5669280" y="1170432"/>
            <a:ext cx="3017520" cy="347472"/>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  Unified aggregation</a:t>
            </a:r>
            <a:endParaRPr lang="en-US" sz="1300" dirty="0"/>
          </a:p>
        </p:txBody>
      </p:sp>
      <p:sp>
        <p:nvSpPr>
          <p:cNvPr id="8" name="Text 6"/>
          <p:cNvSpPr/>
          <p:nvPr/>
        </p:nvSpPr>
        <p:spPr>
          <a:xfrm>
            <a:off x="5669280" y="1536192"/>
            <a:ext cx="3017520" cy="530352"/>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Pulls updates from Moodle, Teams, Messenger, Discord, and WhatsApp automatically.</a:t>
            </a:r>
            <a:endParaRPr lang="en-US" sz="1100" dirty="0"/>
          </a:p>
        </p:txBody>
      </p:sp>
      <p:sp>
        <p:nvSpPr>
          <p:cNvPr id="9" name="Shape 7"/>
          <p:cNvSpPr/>
          <p:nvPr/>
        </p:nvSpPr>
        <p:spPr>
          <a:xfrm>
            <a:off x="5577840" y="2286000"/>
            <a:ext cx="3246120" cy="1051560"/>
          </a:xfrm>
          <a:prstGeom prst="roundRect">
            <a:avLst>
              <a:gd name="adj" fmla="val 8696"/>
            </a:avLst>
          </a:prstGeom>
          <a:solidFill>
            <a:srgbClr val="0A1628"/>
          </a:solidFill>
          <a:ln/>
          <a:effectLst>
            <a:outerShdw sx="100000" sy="100000" kx="0" ky="0" algn="bl" rotWithShape="0" blurRad="76200" dist="25400" dir="2700000">
              <a:srgbClr val="000000">
                <a:alpha val="12000"/>
              </a:srgbClr>
            </a:outerShdw>
          </a:effectLst>
        </p:spPr>
      </p:sp>
      <p:sp>
        <p:nvSpPr>
          <p:cNvPr id="10" name="Text 8"/>
          <p:cNvSpPr/>
          <p:nvPr/>
        </p:nvSpPr>
        <p:spPr>
          <a:xfrm>
            <a:off x="5669280" y="2359152"/>
            <a:ext cx="3017520" cy="347472"/>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  Intelligent triage</a:t>
            </a:r>
            <a:endParaRPr lang="en-US" sz="1300" dirty="0"/>
          </a:p>
        </p:txBody>
      </p:sp>
      <p:sp>
        <p:nvSpPr>
          <p:cNvPr id="11" name="Text 9"/>
          <p:cNvSpPr/>
          <p:nvPr/>
        </p:nvSpPr>
        <p:spPr>
          <a:xfrm>
            <a:off x="5669280" y="2724912"/>
            <a:ext cx="3017520" cy="530352"/>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Surfaces only critical academic updates — deadlines, format changes, urgent announcements.</a:t>
            </a:r>
            <a:endParaRPr lang="en-US" sz="1100" dirty="0"/>
          </a:p>
        </p:txBody>
      </p:sp>
      <p:sp>
        <p:nvSpPr>
          <p:cNvPr id="12" name="Shape 10"/>
          <p:cNvSpPr/>
          <p:nvPr/>
        </p:nvSpPr>
        <p:spPr>
          <a:xfrm>
            <a:off x="5577840" y="3474720"/>
            <a:ext cx="3246120" cy="1051560"/>
          </a:xfrm>
          <a:prstGeom prst="roundRect">
            <a:avLst>
              <a:gd name="adj" fmla="val 8696"/>
            </a:avLst>
          </a:prstGeom>
          <a:solidFill>
            <a:srgbClr val="0A1628"/>
          </a:solidFill>
          <a:ln/>
          <a:effectLst>
            <a:outerShdw sx="100000" sy="100000" kx="0" ky="0" algn="bl" rotWithShape="0" blurRad="76200" dist="25400" dir="2700000">
              <a:srgbClr val="000000">
                <a:alpha val="12000"/>
              </a:srgbClr>
            </a:outerShdw>
          </a:effectLst>
        </p:spPr>
      </p:sp>
      <p:sp>
        <p:nvSpPr>
          <p:cNvPr id="13" name="Text 11"/>
          <p:cNvSpPr/>
          <p:nvPr/>
        </p:nvSpPr>
        <p:spPr>
          <a:xfrm>
            <a:off x="5669280" y="3547872"/>
            <a:ext cx="3017520" cy="347472"/>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  One-tap action</a:t>
            </a:r>
            <a:endParaRPr lang="en-US" sz="1300" dirty="0"/>
          </a:p>
        </p:txBody>
      </p:sp>
      <p:sp>
        <p:nvSpPr>
          <p:cNvPr id="14" name="Text 12"/>
          <p:cNvSpPr/>
          <p:nvPr/>
        </p:nvSpPr>
        <p:spPr>
          <a:xfrm>
            <a:off x="5669280" y="3913632"/>
            <a:ext cx="3017520" cy="530352"/>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Acknowledge and add to weekly plan in a single interaction. No manual entry required.</a:t>
            </a:r>
            <a:endParaRPr lang="en-US" sz="1100" dirty="0"/>
          </a:p>
        </p:txBody>
      </p:sp>
      <p:sp>
        <p:nvSpPr>
          <p:cNvPr id="15" name="Shape 13"/>
          <p:cNvSpPr/>
          <p:nvPr/>
        </p:nvSpPr>
        <p:spPr>
          <a:xfrm>
            <a:off x="365760" y="2468880"/>
            <a:ext cx="5029200" cy="2286000"/>
          </a:xfrm>
          <a:prstGeom prst="roundRect">
            <a:avLst>
              <a:gd name="adj" fmla="val 4000"/>
            </a:avLst>
          </a:prstGeom>
          <a:solidFill>
            <a:srgbClr val="E0F2FE"/>
          </a:solidFill>
          <a:ln/>
          <a:effectLst>
            <a:outerShdw sx="100000" sy="100000" kx="0" ky="0" algn="bl" rotWithShape="0" blurRad="76200" dist="25400" dir="2700000">
              <a:srgbClr val="000000">
                <a:alpha val="8000"/>
              </a:srgbClr>
            </a:outerShdw>
          </a:effectLst>
        </p:spPr>
      </p:sp>
      <p:sp>
        <p:nvSpPr>
          <p:cNvPr id="16" name="Text 14"/>
          <p:cNvSpPr/>
          <p:nvPr/>
        </p:nvSpPr>
        <p:spPr>
          <a:xfrm>
            <a:off x="502920" y="2560320"/>
            <a:ext cx="4663440" cy="347472"/>
          </a:xfrm>
          <a:prstGeom prst="rect">
            <a:avLst/>
          </a:prstGeom>
          <a:noFill/>
          <a:ln/>
        </p:spPr>
        <p:txBody>
          <a:bodyPr wrap="square" lIns="0" tIns="0" rIns="0" bIns="0" rtlCol="0" anchor="t"/>
          <a:lstStyle/>
          <a:p>
            <a:pPr algn="l" indent="0" marL="0">
              <a:buNone/>
            </a:pPr>
            <a:r>
              <a:rPr lang="en-US" sz="1300" b="1" dirty="0">
                <a:solidFill>
                  <a:srgbClr val="0A1628"/>
                </a:solidFill>
                <a:latin typeface="Calibri" pitchFamily="34" charset="0"/>
                <a:ea typeface="Calibri" pitchFamily="34" charset="-122"/>
                <a:cs typeface="Calibri" pitchFamily="34" charset="-120"/>
              </a:rPr>
              <a:t>Core User Journey</a:t>
            </a:r>
            <a:endParaRPr lang="en-US" sz="1300" dirty="0"/>
          </a:p>
        </p:txBody>
      </p:sp>
      <p:sp>
        <p:nvSpPr>
          <p:cNvPr id="17" name="Text 15"/>
          <p:cNvSpPr/>
          <p:nvPr/>
        </p:nvSpPr>
        <p:spPr>
          <a:xfrm>
            <a:off x="548640" y="2971800"/>
            <a:ext cx="4572000" cy="347472"/>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1  Open KIU Nexus</a:t>
            </a:r>
            <a:endParaRPr lang="en-US" sz="1200" dirty="0"/>
          </a:p>
        </p:txBody>
      </p:sp>
      <p:sp>
        <p:nvSpPr>
          <p:cNvPr id="18" name="Text 16"/>
          <p:cNvSpPr/>
          <p:nvPr/>
        </p:nvSpPr>
        <p:spPr>
          <a:xfrm>
            <a:off x="548640" y="3374136"/>
            <a:ext cx="4572000" cy="347472"/>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2  See prioritized critical updates</a:t>
            </a:r>
            <a:endParaRPr lang="en-US" sz="1200" dirty="0"/>
          </a:p>
        </p:txBody>
      </p:sp>
      <p:sp>
        <p:nvSpPr>
          <p:cNvPr id="19" name="Text 17"/>
          <p:cNvSpPr/>
          <p:nvPr/>
        </p:nvSpPr>
        <p:spPr>
          <a:xfrm>
            <a:off x="548640" y="3776472"/>
            <a:ext cx="4572000" cy="347472"/>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3  Tap the urgent item</a:t>
            </a:r>
            <a:endParaRPr lang="en-US" sz="1200" dirty="0"/>
          </a:p>
        </p:txBody>
      </p:sp>
      <p:sp>
        <p:nvSpPr>
          <p:cNvPr id="20" name="Text 18"/>
          <p:cNvSpPr/>
          <p:nvPr/>
        </p:nvSpPr>
        <p:spPr>
          <a:xfrm>
            <a:off x="548640" y="4178808"/>
            <a:ext cx="4572000" cy="347472"/>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4  Acknowledge and add to weekly plan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Why Now</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Platform fragmentation at KIU has reached a tipping point</a:t>
            </a:r>
            <a:endParaRPr lang="en-US" sz="1200" dirty="0"/>
          </a:p>
        </p:txBody>
      </p:sp>
      <p:sp>
        <p:nvSpPr>
          <p:cNvPr id="5" name="Shape 3"/>
          <p:cNvSpPr/>
          <p:nvPr/>
        </p:nvSpPr>
        <p:spPr>
          <a:xfrm>
            <a:off x="365760" y="1143000"/>
            <a:ext cx="8412480" cy="804672"/>
          </a:xfrm>
          <a:prstGeom prst="roundRect">
            <a:avLst>
              <a:gd name="adj" fmla="val 9091"/>
            </a:avLst>
          </a:prstGeom>
          <a:solidFill>
            <a:srgbClr val="0A1628"/>
          </a:solidFill>
          <a:ln/>
          <a:effectLst>
            <a:outerShdw sx="100000" sy="100000" kx="0" ky="0" algn="bl" rotWithShape="0" blurRad="63500" dist="25400" dir="2700000">
              <a:srgbClr val="000000">
                <a:alpha val="10000"/>
              </a:srgbClr>
            </a:outerShdw>
          </a:effectLst>
        </p:spPr>
      </p:sp>
      <p:sp>
        <p:nvSpPr>
          <p:cNvPr id="6" name="Text 4"/>
          <p:cNvSpPr/>
          <p:nvPr/>
        </p:nvSpPr>
        <p:spPr>
          <a:xfrm>
            <a:off x="548640" y="1207008"/>
            <a:ext cx="3200400" cy="329184"/>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Fragmentation is now the default</a:t>
            </a:r>
            <a:endParaRPr lang="en-US" sz="1300" dirty="0"/>
          </a:p>
        </p:txBody>
      </p:sp>
      <p:sp>
        <p:nvSpPr>
          <p:cNvPr id="7" name="Text 5"/>
          <p:cNvSpPr/>
          <p:nvPr/>
        </p:nvSpPr>
        <p:spPr>
          <a:xfrm>
            <a:off x="3840480" y="1188720"/>
            <a:ext cx="4754880" cy="658368"/>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KIU professors today distribute critical course updates across Moodle, Microsoft Teams, and informal chat groups. This is not a temporary quirk — it is the established pattern.</a:t>
            </a:r>
            <a:endParaRPr lang="en-US" sz="1100" dirty="0"/>
          </a:p>
        </p:txBody>
      </p:sp>
      <p:sp>
        <p:nvSpPr>
          <p:cNvPr id="8" name="Shape 6"/>
          <p:cNvSpPr/>
          <p:nvPr/>
        </p:nvSpPr>
        <p:spPr>
          <a:xfrm>
            <a:off x="365760" y="2057400"/>
            <a:ext cx="8412480" cy="804672"/>
          </a:xfrm>
          <a:prstGeom prst="roundRect">
            <a:avLst>
              <a:gd name="adj" fmla="val 9091"/>
            </a:avLst>
          </a:prstGeom>
          <a:solidFill>
            <a:srgbClr val="1E293B"/>
          </a:solidFill>
          <a:ln/>
          <a:effectLst>
            <a:outerShdw sx="100000" sy="100000" kx="0" ky="0" algn="bl" rotWithShape="0" blurRad="63500" dist="25400" dir="2700000">
              <a:srgbClr val="000000">
                <a:alpha val="10000"/>
              </a:srgbClr>
            </a:outerShdw>
          </a:effectLst>
        </p:spPr>
      </p:sp>
      <p:sp>
        <p:nvSpPr>
          <p:cNvPr id="9" name="Text 7"/>
          <p:cNvSpPr/>
          <p:nvPr/>
        </p:nvSpPr>
        <p:spPr>
          <a:xfrm>
            <a:off x="548640" y="2121408"/>
            <a:ext cx="3200400" cy="329184"/>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The infrastructure already exists</a:t>
            </a:r>
            <a:endParaRPr lang="en-US" sz="1300" dirty="0"/>
          </a:p>
        </p:txBody>
      </p:sp>
      <p:sp>
        <p:nvSpPr>
          <p:cNvPr id="10" name="Text 8"/>
          <p:cNvSpPr/>
          <p:nvPr/>
        </p:nvSpPr>
        <p:spPr>
          <a:xfrm>
            <a:off x="3840480" y="2103120"/>
            <a:ext cx="4754880" cy="658368"/>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All five platforms are live and student-adopted. KIU Nexus does not require professors to change tools — it ingests what already exists.</a:t>
            </a:r>
            <a:endParaRPr lang="en-US" sz="1100" dirty="0"/>
          </a:p>
        </p:txBody>
      </p:sp>
      <p:sp>
        <p:nvSpPr>
          <p:cNvPr id="11" name="Shape 9"/>
          <p:cNvSpPr/>
          <p:nvPr/>
        </p:nvSpPr>
        <p:spPr>
          <a:xfrm>
            <a:off x="365760" y="2971800"/>
            <a:ext cx="8412480" cy="804672"/>
          </a:xfrm>
          <a:prstGeom prst="roundRect">
            <a:avLst>
              <a:gd name="adj" fmla="val 9091"/>
            </a:avLst>
          </a:prstGeom>
          <a:solidFill>
            <a:srgbClr val="0A1628"/>
          </a:solidFill>
          <a:ln/>
          <a:effectLst>
            <a:outerShdw sx="100000" sy="100000" kx="0" ky="0" algn="bl" rotWithShape="0" blurRad="63500" dist="25400" dir="2700000">
              <a:srgbClr val="000000">
                <a:alpha val="10000"/>
              </a:srgbClr>
            </a:outerShdw>
          </a:effectLst>
        </p:spPr>
      </p:sp>
      <p:sp>
        <p:nvSpPr>
          <p:cNvPr id="12" name="Text 10"/>
          <p:cNvSpPr/>
          <p:nvPr/>
        </p:nvSpPr>
        <p:spPr>
          <a:xfrm>
            <a:off x="548640" y="3035808"/>
            <a:ext cx="3200400" cy="329184"/>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The manual sweep is the failure mode</a:t>
            </a:r>
            <a:endParaRPr lang="en-US" sz="1300" dirty="0"/>
          </a:p>
        </p:txBody>
      </p:sp>
      <p:sp>
        <p:nvSpPr>
          <p:cNvPr id="13" name="Text 11"/>
          <p:cNvSpPr/>
          <p:nvPr/>
        </p:nvSpPr>
        <p:spPr>
          <a:xfrm>
            <a:off x="3840480" y="3017520"/>
            <a:ext cx="4754880" cy="658368"/>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Students have tried to solve this with bots, scripts, Notion, and paper notebooks. Every workaround failed. The problem is unsolved and the market is waiting.</a:t>
            </a:r>
            <a:endParaRPr lang="en-US" sz="1100" dirty="0"/>
          </a:p>
        </p:txBody>
      </p:sp>
      <p:sp>
        <p:nvSpPr>
          <p:cNvPr id="14" name="Shape 12"/>
          <p:cNvSpPr/>
          <p:nvPr/>
        </p:nvSpPr>
        <p:spPr>
          <a:xfrm>
            <a:off x="365760" y="3886200"/>
            <a:ext cx="8412480" cy="804672"/>
          </a:xfrm>
          <a:prstGeom prst="roundRect">
            <a:avLst>
              <a:gd name="adj" fmla="val 9091"/>
            </a:avLst>
          </a:prstGeom>
          <a:solidFill>
            <a:srgbClr val="1E293B"/>
          </a:solidFill>
          <a:ln/>
          <a:effectLst>
            <a:outerShdw sx="100000" sy="100000" kx="0" ky="0" algn="bl" rotWithShape="0" blurRad="63500" dist="25400" dir="2700000">
              <a:srgbClr val="000000">
                <a:alpha val="10000"/>
              </a:srgbClr>
            </a:outerShdw>
          </a:effectLst>
        </p:spPr>
      </p:sp>
      <p:sp>
        <p:nvSpPr>
          <p:cNvPr id="15" name="Text 13"/>
          <p:cNvSpPr/>
          <p:nvPr/>
        </p:nvSpPr>
        <p:spPr>
          <a:xfrm>
            <a:off x="548640" y="3950208"/>
            <a:ext cx="3200400" cy="329184"/>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Solvable today with modern APIs</a:t>
            </a:r>
            <a:endParaRPr lang="en-US" sz="1300" dirty="0"/>
          </a:p>
        </p:txBody>
      </p:sp>
      <p:sp>
        <p:nvSpPr>
          <p:cNvPr id="16" name="Text 14"/>
          <p:cNvSpPr/>
          <p:nvPr/>
        </p:nvSpPr>
        <p:spPr>
          <a:xfrm>
            <a:off x="3840480" y="3931920"/>
            <a:ext cx="4754880" cy="658368"/>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Platform APIs exist and are accessible. The aggregation and triage layer is buildable now, at low cost, with the team's current tech stack.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Market Size</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Starting narrow, scaling to the Georgian university system</a:t>
            </a:r>
            <a:endParaRPr lang="en-US" sz="1200" dirty="0"/>
          </a:p>
        </p:txBody>
      </p:sp>
      <p:sp>
        <p:nvSpPr>
          <p:cNvPr id="5" name="Shape 3"/>
          <p:cNvSpPr/>
          <p:nvPr/>
        </p:nvSpPr>
        <p:spPr>
          <a:xfrm>
            <a:off x="320040" y="1097280"/>
            <a:ext cx="2468880" cy="3566160"/>
          </a:xfrm>
          <a:prstGeom prst="roundRect">
            <a:avLst>
              <a:gd name="adj" fmla="val 4444"/>
            </a:avLst>
          </a:prstGeom>
          <a:solidFill>
            <a:srgbClr val="0A1628"/>
          </a:solidFill>
          <a:ln/>
          <a:effectLst>
            <a:outerShdw sx="100000" sy="100000" kx="0" ky="0" algn="bl" rotWithShape="0" blurRad="101600" dist="38100" dir="2700000">
              <a:srgbClr val="000000">
                <a:alpha val="15000"/>
              </a:srgbClr>
            </a:outerShdw>
          </a:effectLst>
        </p:spPr>
      </p:sp>
      <p:sp>
        <p:nvSpPr>
          <p:cNvPr id="6" name="Shape 4"/>
          <p:cNvSpPr/>
          <p:nvPr/>
        </p:nvSpPr>
        <p:spPr>
          <a:xfrm>
            <a:off x="1234440" y="1234440"/>
            <a:ext cx="640080" cy="640080"/>
          </a:xfrm>
          <a:prstGeom prst="ellipse">
            <a:avLst/>
          </a:prstGeom>
          <a:solidFill>
            <a:srgbClr val="0D9488"/>
          </a:solidFill>
          <a:ln w="12700">
            <a:solidFill>
              <a:srgbClr val="0D9488"/>
            </a:solidFill>
            <a:prstDash val="solid"/>
          </a:ln>
        </p:spPr>
      </p:sp>
      <p:sp>
        <p:nvSpPr>
          <p:cNvPr id="7" name="Text 5"/>
          <p:cNvSpPr/>
          <p:nvPr/>
        </p:nvSpPr>
        <p:spPr>
          <a:xfrm>
            <a:off x="320040" y="1234440"/>
            <a:ext cx="24688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SOM</a:t>
            </a:r>
            <a:endParaRPr lang="en-US" sz="1400" dirty="0"/>
          </a:p>
        </p:txBody>
      </p:sp>
      <p:sp>
        <p:nvSpPr>
          <p:cNvPr id="8" name="Text 6"/>
          <p:cNvSpPr/>
          <p:nvPr/>
        </p:nvSpPr>
        <p:spPr>
          <a:xfrm>
            <a:off x="411480" y="2011680"/>
            <a:ext cx="2286000" cy="411480"/>
          </a:xfrm>
          <a:prstGeom prst="rect">
            <a:avLst/>
          </a:prstGeom>
          <a:noFill/>
          <a:ln/>
        </p:spPr>
        <p:txBody>
          <a:bodyPr wrap="square" lIns="0" tIns="0" rIns="0" bIns="0" rtlCol="0" anchor="t"/>
          <a:lstStyle/>
          <a:p>
            <a:pPr algn="ctr" indent="0" marL="0">
              <a:buNone/>
            </a:pPr>
            <a:r>
              <a:rPr lang="en-US" sz="1100" b="1" dirty="0">
                <a:solidFill>
                  <a:srgbClr val="0D9488"/>
                </a:solidFill>
                <a:latin typeface="Calibri" pitchFamily="34" charset="0"/>
                <a:ea typeface="Calibri" pitchFamily="34" charset="-122"/>
                <a:cs typeface="Calibri" pitchFamily="34" charset="-120"/>
              </a:rPr>
              <a:t>Serviceable Obtainable</a:t>
            </a:r>
            <a:endParaRPr lang="en-US" sz="1100" dirty="0"/>
          </a:p>
        </p:txBody>
      </p:sp>
      <p:sp>
        <p:nvSpPr>
          <p:cNvPr id="9" name="Text 7"/>
          <p:cNvSpPr/>
          <p:nvPr/>
        </p:nvSpPr>
        <p:spPr>
          <a:xfrm>
            <a:off x="411480" y="2468880"/>
            <a:ext cx="2286000" cy="73152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200 KIU 3rd-year CS students</a:t>
            </a:r>
            <a:endParaRPr lang="en-US" sz="1100" dirty="0"/>
          </a:p>
        </p:txBody>
      </p:sp>
      <p:sp>
        <p:nvSpPr>
          <p:cNvPr id="10" name="Text 8"/>
          <p:cNvSpPr/>
          <p:nvPr/>
        </p:nvSpPr>
        <p:spPr>
          <a:xfrm>
            <a:off x="411480" y="3291840"/>
            <a:ext cx="2286000" cy="32004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 8 GEL/mo × 12</a:t>
            </a:r>
            <a:endParaRPr lang="en-US" sz="1000" dirty="0"/>
          </a:p>
        </p:txBody>
      </p:sp>
      <p:sp>
        <p:nvSpPr>
          <p:cNvPr id="11" name="Text 9"/>
          <p:cNvSpPr/>
          <p:nvPr/>
        </p:nvSpPr>
        <p:spPr>
          <a:xfrm>
            <a:off x="411480" y="3657600"/>
            <a:ext cx="22860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19,200 GEL ARR</a:t>
            </a:r>
            <a:endParaRPr lang="en-US" sz="1500" dirty="0"/>
          </a:p>
        </p:txBody>
      </p:sp>
      <p:sp>
        <p:nvSpPr>
          <p:cNvPr id="12" name="Shape 10"/>
          <p:cNvSpPr/>
          <p:nvPr/>
        </p:nvSpPr>
        <p:spPr>
          <a:xfrm>
            <a:off x="3200400" y="1097280"/>
            <a:ext cx="2468880" cy="3566160"/>
          </a:xfrm>
          <a:prstGeom prst="roundRect">
            <a:avLst>
              <a:gd name="adj" fmla="val 4444"/>
            </a:avLst>
          </a:prstGeom>
          <a:solidFill>
            <a:srgbClr val="0A1628"/>
          </a:solidFill>
          <a:ln/>
          <a:effectLst>
            <a:outerShdw sx="100000" sy="100000" kx="0" ky="0" algn="bl" rotWithShape="0" blurRad="101600" dist="38100" dir="2700000">
              <a:srgbClr val="000000">
                <a:alpha val="15000"/>
              </a:srgbClr>
            </a:outerShdw>
          </a:effectLst>
        </p:spPr>
      </p:sp>
      <p:sp>
        <p:nvSpPr>
          <p:cNvPr id="13" name="Shape 11"/>
          <p:cNvSpPr/>
          <p:nvPr/>
        </p:nvSpPr>
        <p:spPr>
          <a:xfrm>
            <a:off x="4114800" y="1234440"/>
            <a:ext cx="640080" cy="640080"/>
          </a:xfrm>
          <a:prstGeom prst="ellipse">
            <a:avLst/>
          </a:prstGeom>
          <a:solidFill>
            <a:srgbClr val="0EA5E9"/>
          </a:solidFill>
          <a:ln w="12700">
            <a:solidFill>
              <a:srgbClr val="0EA5E9"/>
            </a:solidFill>
            <a:prstDash val="solid"/>
          </a:ln>
        </p:spPr>
      </p:sp>
      <p:sp>
        <p:nvSpPr>
          <p:cNvPr id="14" name="Text 12"/>
          <p:cNvSpPr/>
          <p:nvPr/>
        </p:nvSpPr>
        <p:spPr>
          <a:xfrm>
            <a:off x="3200400" y="1234440"/>
            <a:ext cx="24688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SAM</a:t>
            </a:r>
            <a:endParaRPr lang="en-US" sz="1400" dirty="0"/>
          </a:p>
        </p:txBody>
      </p:sp>
      <p:sp>
        <p:nvSpPr>
          <p:cNvPr id="15" name="Text 13"/>
          <p:cNvSpPr/>
          <p:nvPr/>
        </p:nvSpPr>
        <p:spPr>
          <a:xfrm>
            <a:off x="3291840" y="2011680"/>
            <a:ext cx="2286000" cy="411480"/>
          </a:xfrm>
          <a:prstGeom prst="rect">
            <a:avLst/>
          </a:prstGeom>
          <a:noFill/>
          <a:ln/>
        </p:spPr>
        <p:txBody>
          <a:bodyPr wrap="square" lIns="0" tIns="0" rIns="0" bIns="0" rtlCol="0" anchor="t"/>
          <a:lstStyle/>
          <a:p>
            <a:pPr algn="ctr" indent="0" marL="0">
              <a:buNone/>
            </a:pPr>
            <a:r>
              <a:rPr lang="en-US" sz="1100" b="1" dirty="0">
                <a:solidFill>
                  <a:srgbClr val="0EA5E9"/>
                </a:solidFill>
                <a:latin typeface="Calibri" pitchFamily="34" charset="0"/>
                <a:ea typeface="Calibri" pitchFamily="34" charset="-122"/>
                <a:cs typeface="Calibri" pitchFamily="34" charset="-120"/>
              </a:rPr>
              <a:t>Serviceable Addressable</a:t>
            </a:r>
            <a:endParaRPr lang="en-US" sz="1100" dirty="0"/>
          </a:p>
        </p:txBody>
      </p:sp>
      <p:sp>
        <p:nvSpPr>
          <p:cNvPr id="16" name="Text 14"/>
          <p:cNvSpPr/>
          <p:nvPr/>
        </p:nvSpPr>
        <p:spPr>
          <a:xfrm>
            <a:off x="3291840" y="2468880"/>
            <a:ext cx="2286000" cy="73152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2,000 Georgian CS students</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in project-heavy programmes</a:t>
            </a:r>
            <a:endParaRPr lang="en-US" sz="1100" dirty="0"/>
          </a:p>
        </p:txBody>
      </p:sp>
      <p:sp>
        <p:nvSpPr>
          <p:cNvPr id="17" name="Text 15"/>
          <p:cNvSpPr/>
          <p:nvPr/>
        </p:nvSpPr>
        <p:spPr>
          <a:xfrm>
            <a:off x="3291840" y="3291840"/>
            <a:ext cx="2286000" cy="32004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 8 GEL/mo × 12</a:t>
            </a:r>
            <a:endParaRPr lang="en-US" sz="1000" dirty="0"/>
          </a:p>
        </p:txBody>
      </p:sp>
      <p:sp>
        <p:nvSpPr>
          <p:cNvPr id="18" name="Text 16"/>
          <p:cNvSpPr/>
          <p:nvPr/>
        </p:nvSpPr>
        <p:spPr>
          <a:xfrm>
            <a:off x="3291840" y="3657600"/>
            <a:ext cx="22860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192,000 GEL ARR</a:t>
            </a:r>
            <a:endParaRPr lang="en-US" sz="1500" dirty="0"/>
          </a:p>
        </p:txBody>
      </p:sp>
      <p:sp>
        <p:nvSpPr>
          <p:cNvPr id="19" name="Shape 17"/>
          <p:cNvSpPr/>
          <p:nvPr/>
        </p:nvSpPr>
        <p:spPr>
          <a:xfrm>
            <a:off x="6080760" y="1097280"/>
            <a:ext cx="2926080" cy="3566160"/>
          </a:xfrm>
          <a:prstGeom prst="roundRect">
            <a:avLst>
              <a:gd name="adj" fmla="val 3750"/>
            </a:avLst>
          </a:prstGeom>
          <a:solidFill>
            <a:srgbClr val="0A1628"/>
          </a:solidFill>
          <a:ln/>
          <a:effectLst>
            <a:outerShdw sx="100000" sy="100000" kx="0" ky="0" algn="bl" rotWithShape="0" blurRad="101600" dist="38100" dir="2700000">
              <a:srgbClr val="000000">
                <a:alpha val="15000"/>
              </a:srgbClr>
            </a:outerShdw>
          </a:effectLst>
        </p:spPr>
      </p:sp>
      <p:sp>
        <p:nvSpPr>
          <p:cNvPr id="20" name="Shape 18"/>
          <p:cNvSpPr/>
          <p:nvPr/>
        </p:nvSpPr>
        <p:spPr>
          <a:xfrm>
            <a:off x="7223760" y="1234440"/>
            <a:ext cx="640080" cy="640080"/>
          </a:xfrm>
          <a:prstGeom prst="ellipse">
            <a:avLst/>
          </a:prstGeom>
          <a:solidFill>
            <a:srgbClr val="F59E0B"/>
          </a:solidFill>
          <a:ln w="12700">
            <a:solidFill>
              <a:srgbClr val="F59E0B"/>
            </a:solidFill>
            <a:prstDash val="solid"/>
          </a:ln>
        </p:spPr>
      </p:sp>
      <p:sp>
        <p:nvSpPr>
          <p:cNvPr id="21" name="Text 19"/>
          <p:cNvSpPr/>
          <p:nvPr/>
        </p:nvSpPr>
        <p:spPr>
          <a:xfrm>
            <a:off x="6080760" y="1234440"/>
            <a:ext cx="2926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TAM</a:t>
            </a:r>
            <a:endParaRPr lang="en-US" sz="1400" dirty="0"/>
          </a:p>
        </p:txBody>
      </p:sp>
      <p:sp>
        <p:nvSpPr>
          <p:cNvPr id="22" name="Text 20"/>
          <p:cNvSpPr/>
          <p:nvPr/>
        </p:nvSpPr>
        <p:spPr>
          <a:xfrm>
            <a:off x="6172200" y="2011680"/>
            <a:ext cx="2743200" cy="411480"/>
          </a:xfrm>
          <a:prstGeom prst="rect">
            <a:avLst/>
          </a:prstGeom>
          <a:noFill/>
          <a:ln/>
        </p:spPr>
        <p:txBody>
          <a:bodyPr wrap="square" lIns="0" tIns="0" rIns="0" bIns="0" rtlCol="0" anchor="t"/>
          <a:lstStyle/>
          <a:p>
            <a:pPr algn="ctr" indent="0" marL="0">
              <a:buNone/>
            </a:pPr>
            <a:r>
              <a:rPr lang="en-US" sz="1100" b="1" dirty="0">
                <a:solidFill>
                  <a:srgbClr val="F59E0B"/>
                </a:solidFill>
                <a:latin typeface="Calibri" pitchFamily="34" charset="0"/>
                <a:ea typeface="Calibri" pitchFamily="34" charset="-122"/>
                <a:cs typeface="Calibri" pitchFamily="34" charset="-120"/>
              </a:rPr>
              <a:t>Total Addressable Market</a:t>
            </a:r>
            <a:endParaRPr lang="en-US" sz="1100" dirty="0"/>
          </a:p>
        </p:txBody>
      </p:sp>
      <p:sp>
        <p:nvSpPr>
          <p:cNvPr id="23" name="Text 21"/>
          <p:cNvSpPr/>
          <p:nvPr/>
        </p:nvSpPr>
        <p:spPr>
          <a:xfrm>
            <a:off x="6172200" y="2468880"/>
            <a:ext cx="2743200" cy="73152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300,000 Georgian university</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students</a:t>
            </a:r>
            <a:endParaRPr lang="en-US" sz="1100" dirty="0"/>
          </a:p>
        </p:txBody>
      </p:sp>
      <p:sp>
        <p:nvSpPr>
          <p:cNvPr id="24" name="Text 22"/>
          <p:cNvSpPr/>
          <p:nvPr/>
        </p:nvSpPr>
        <p:spPr>
          <a:xfrm>
            <a:off x="6172200" y="3291840"/>
            <a:ext cx="2743200" cy="32004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 8 GEL/mo × 12</a:t>
            </a:r>
            <a:endParaRPr lang="en-US" sz="1000" dirty="0"/>
          </a:p>
        </p:txBody>
      </p:sp>
      <p:sp>
        <p:nvSpPr>
          <p:cNvPr id="25" name="Text 23"/>
          <p:cNvSpPr/>
          <p:nvPr/>
        </p:nvSpPr>
        <p:spPr>
          <a:xfrm>
            <a:off x="6172200" y="3657600"/>
            <a:ext cx="27432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28.8M GEL ARR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Product</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Built and ready — MVP activation flow and analytics in place</a:t>
            </a:r>
            <a:endParaRPr lang="en-US" sz="1200" dirty="0"/>
          </a:p>
        </p:txBody>
      </p:sp>
      <p:sp>
        <p:nvSpPr>
          <p:cNvPr id="5" name="Shape 3"/>
          <p:cNvSpPr/>
          <p:nvPr/>
        </p:nvSpPr>
        <p:spPr>
          <a:xfrm>
            <a:off x="365760" y="1097280"/>
            <a:ext cx="4846320" cy="3611880"/>
          </a:xfrm>
          <a:prstGeom prst="roundRect">
            <a:avLst>
              <a:gd name="adj" fmla="val 3544"/>
            </a:avLst>
          </a:prstGeom>
          <a:solidFill>
            <a:srgbClr val="0A1628"/>
          </a:solidFill>
          <a:ln/>
          <a:effectLst>
            <a:outerShdw sx="100000" sy="100000" kx="0" ky="0" algn="bl" rotWithShape="0" blurRad="127000" dist="50800" dir="2700000">
              <a:srgbClr val="000000">
                <a:alpha val="20000"/>
              </a:srgbClr>
            </a:outerShdw>
          </a:effectLst>
        </p:spPr>
      </p:sp>
      <p:sp>
        <p:nvSpPr>
          <p:cNvPr id="6" name="Shape 4"/>
          <p:cNvSpPr/>
          <p:nvPr/>
        </p:nvSpPr>
        <p:spPr>
          <a:xfrm>
            <a:off x="457200" y="1188720"/>
            <a:ext cx="4663440" cy="274320"/>
          </a:xfrm>
          <a:prstGeom prst="roundRect">
            <a:avLst>
              <a:gd name="adj" fmla="val 20000"/>
            </a:avLst>
          </a:prstGeom>
          <a:solidFill>
            <a:srgbClr val="1E293B"/>
          </a:solidFill>
          <a:ln w="12700">
            <a:solidFill>
              <a:srgbClr val="1E293B"/>
            </a:solidFill>
            <a:prstDash val="solid"/>
          </a:ln>
        </p:spPr>
      </p:sp>
      <p:sp>
        <p:nvSpPr>
          <p:cNvPr id="7" name="Text 5"/>
          <p:cNvSpPr/>
          <p:nvPr/>
        </p:nvSpPr>
        <p:spPr>
          <a:xfrm>
            <a:off x="502920" y="1188720"/>
            <a:ext cx="4572000" cy="27432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 ● ●   kiu-nexus.vercel.app</a:t>
            </a:r>
            <a:endParaRPr lang="en-US" sz="800" dirty="0"/>
          </a:p>
        </p:txBody>
      </p:sp>
      <p:sp>
        <p:nvSpPr>
          <p:cNvPr id="8" name="Shape 6"/>
          <p:cNvSpPr/>
          <p:nvPr/>
        </p:nvSpPr>
        <p:spPr>
          <a:xfrm>
            <a:off x="502920" y="1572768"/>
            <a:ext cx="4572000" cy="749808"/>
          </a:xfrm>
          <a:prstGeom prst="roundRect">
            <a:avLst>
              <a:gd name="adj" fmla="val 7317"/>
            </a:avLst>
          </a:prstGeom>
          <a:solidFill>
            <a:srgbClr val="1E1040"/>
          </a:solidFill>
          <a:ln/>
        </p:spPr>
      </p:sp>
      <p:sp>
        <p:nvSpPr>
          <p:cNvPr id="9" name="Text 7"/>
          <p:cNvSpPr/>
          <p:nvPr/>
        </p:nvSpPr>
        <p:spPr>
          <a:xfrm>
            <a:off x="621792" y="1627632"/>
            <a:ext cx="4297680" cy="237744"/>
          </a:xfrm>
          <a:prstGeom prst="rect">
            <a:avLst/>
          </a:prstGeom>
          <a:noFill/>
          <a:ln/>
        </p:spPr>
        <p:txBody>
          <a:bodyPr wrap="square" lIns="0" tIns="0" rIns="0" bIns="0" rtlCol="0" anchor="t"/>
          <a:lstStyle/>
          <a:p>
            <a:pPr algn="l" indent="0" marL="0">
              <a:buNone/>
            </a:pPr>
            <a:r>
              <a:rPr lang="en-US" sz="800" b="1" dirty="0">
                <a:solidFill>
                  <a:srgbClr val="F59E0B"/>
                </a:solidFill>
                <a:latin typeface="Calibri" pitchFamily="34" charset="0"/>
                <a:ea typeface="Calibri" pitchFamily="34" charset="-122"/>
                <a:cs typeface="Calibri" pitchFamily="34" charset="-120"/>
              </a:rPr>
              <a:t>🔴 URGENT  2h ago</a:t>
            </a:r>
            <a:endParaRPr lang="en-US" sz="800" dirty="0"/>
          </a:p>
        </p:txBody>
      </p:sp>
      <p:sp>
        <p:nvSpPr>
          <p:cNvPr id="10" name="Text 8"/>
          <p:cNvSpPr/>
          <p:nvPr/>
        </p:nvSpPr>
        <p:spPr>
          <a:xfrm>
            <a:off x="621792" y="1883664"/>
            <a:ext cx="320040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Web Dev — Submission format changed to ZIP</a:t>
            </a:r>
            <a:endParaRPr lang="en-US" sz="1100" dirty="0"/>
          </a:p>
        </p:txBody>
      </p:sp>
      <p:sp>
        <p:nvSpPr>
          <p:cNvPr id="11" name="Shape 9"/>
          <p:cNvSpPr/>
          <p:nvPr/>
        </p:nvSpPr>
        <p:spPr>
          <a:xfrm>
            <a:off x="3977640" y="1810512"/>
            <a:ext cx="960120" cy="274320"/>
          </a:xfrm>
          <a:prstGeom prst="roundRect">
            <a:avLst>
              <a:gd name="adj" fmla="val 16667"/>
            </a:avLst>
          </a:prstGeom>
          <a:solidFill>
            <a:srgbClr val="0D9488"/>
          </a:solidFill>
          <a:ln/>
        </p:spPr>
      </p:sp>
      <p:sp>
        <p:nvSpPr>
          <p:cNvPr id="12" name="Text 10"/>
          <p:cNvSpPr/>
          <p:nvPr/>
        </p:nvSpPr>
        <p:spPr>
          <a:xfrm>
            <a:off x="3977640" y="1810512"/>
            <a:ext cx="9601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 to plan</a:t>
            </a:r>
            <a:endParaRPr lang="en-US" sz="800" dirty="0"/>
          </a:p>
        </p:txBody>
      </p:sp>
      <p:sp>
        <p:nvSpPr>
          <p:cNvPr id="13" name="Shape 11"/>
          <p:cNvSpPr/>
          <p:nvPr/>
        </p:nvSpPr>
        <p:spPr>
          <a:xfrm>
            <a:off x="502920" y="2441448"/>
            <a:ext cx="4572000" cy="749808"/>
          </a:xfrm>
          <a:prstGeom prst="roundRect">
            <a:avLst>
              <a:gd name="adj" fmla="val 7317"/>
            </a:avLst>
          </a:prstGeom>
          <a:solidFill>
            <a:srgbClr val="1E293B"/>
          </a:solidFill>
          <a:ln/>
        </p:spPr>
      </p:sp>
      <p:sp>
        <p:nvSpPr>
          <p:cNvPr id="14" name="Text 12"/>
          <p:cNvSpPr/>
          <p:nvPr/>
        </p:nvSpPr>
        <p:spPr>
          <a:xfrm>
            <a:off x="621792" y="2496312"/>
            <a:ext cx="4297680" cy="237744"/>
          </a:xfrm>
          <a:prstGeom prst="rect">
            <a:avLst/>
          </a:prstGeom>
          <a:noFill/>
          <a:ln/>
        </p:spPr>
        <p:txBody>
          <a:bodyPr wrap="square" lIns="0" tIns="0" rIns="0" bIns="0" rtlCol="0" anchor="t"/>
          <a:lstStyle/>
          <a:p>
            <a:pPr algn="l" indent="0" marL="0">
              <a:buNone/>
            </a:pPr>
            <a:r>
              <a:rPr lang="en-US" sz="800" b="1" dirty="0">
                <a:solidFill>
                  <a:srgbClr val="94A3B8"/>
                </a:solidFill>
                <a:latin typeface="Calibri" pitchFamily="34" charset="0"/>
                <a:ea typeface="Calibri" pitchFamily="34" charset="-122"/>
                <a:cs typeface="Calibri" pitchFamily="34" charset="-120"/>
              </a:rPr>
              <a:t>🟡 TODAY  4h ago</a:t>
            </a:r>
            <a:endParaRPr lang="en-US" sz="800" dirty="0"/>
          </a:p>
        </p:txBody>
      </p:sp>
      <p:sp>
        <p:nvSpPr>
          <p:cNvPr id="15" name="Text 13"/>
          <p:cNvSpPr/>
          <p:nvPr/>
        </p:nvSpPr>
        <p:spPr>
          <a:xfrm>
            <a:off x="621792" y="2752344"/>
            <a:ext cx="320040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OOP — Professor posted clarification on Lab 5</a:t>
            </a:r>
            <a:endParaRPr lang="en-US" sz="1100" dirty="0"/>
          </a:p>
        </p:txBody>
      </p:sp>
      <p:sp>
        <p:nvSpPr>
          <p:cNvPr id="16" name="Shape 14"/>
          <p:cNvSpPr/>
          <p:nvPr/>
        </p:nvSpPr>
        <p:spPr>
          <a:xfrm>
            <a:off x="3977640" y="2679192"/>
            <a:ext cx="960120" cy="274320"/>
          </a:xfrm>
          <a:prstGeom prst="roundRect">
            <a:avLst>
              <a:gd name="adj" fmla="val 16667"/>
            </a:avLst>
          </a:prstGeom>
          <a:solidFill>
            <a:srgbClr val="0D9488"/>
          </a:solidFill>
          <a:ln/>
        </p:spPr>
      </p:sp>
      <p:sp>
        <p:nvSpPr>
          <p:cNvPr id="17" name="Text 15"/>
          <p:cNvSpPr/>
          <p:nvPr/>
        </p:nvSpPr>
        <p:spPr>
          <a:xfrm>
            <a:off x="3977640" y="2679192"/>
            <a:ext cx="9601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 to plan</a:t>
            </a:r>
            <a:endParaRPr lang="en-US" sz="800" dirty="0"/>
          </a:p>
        </p:txBody>
      </p:sp>
      <p:sp>
        <p:nvSpPr>
          <p:cNvPr id="18" name="Shape 16"/>
          <p:cNvSpPr/>
          <p:nvPr/>
        </p:nvSpPr>
        <p:spPr>
          <a:xfrm>
            <a:off x="502920" y="3310128"/>
            <a:ext cx="4572000" cy="749808"/>
          </a:xfrm>
          <a:prstGeom prst="roundRect">
            <a:avLst>
              <a:gd name="adj" fmla="val 7317"/>
            </a:avLst>
          </a:prstGeom>
          <a:solidFill>
            <a:srgbClr val="1E293B"/>
          </a:solidFill>
          <a:ln/>
        </p:spPr>
      </p:sp>
      <p:sp>
        <p:nvSpPr>
          <p:cNvPr id="19" name="Text 17"/>
          <p:cNvSpPr/>
          <p:nvPr/>
        </p:nvSpPr>
        <p:spPr>
          <a:xfrm>
            <a:off x="621792" y="3364992"/>
            <a:ext cx="4297680" cy="237744"/>
          </a:xfrm>
          <a:prstGeom prst="rect">
            <a:avLst/>
          </a:prstGeom>
          <a:noFill/>
          <a:ln/>
        </p:spPr>
        <p:txBody>
          <a:bodyPr wrap="square" lIns="0" tIns="0" rIns="0" bIns="0" rtlCol="0" anchor="t"/>
          <a:lstStyle/>
          <a:p>
            <a:pPr algn="l" indent="0" marL="0">
              <a:buNone/>
            </a:pPr>
            <a:r>
              <a:rPr lang="en-US" sz="800" b="1" dirty="0">
                <a:solidFill>
                  <a:srgbClr val="94A3B8"/>
                </a:solidFill>
                <a:latin typeface="Calibri" pitchFamily="34" charset="0"/>
                <a:ea typeface="Calibri" pitchFamily="34" charset="-122"/>
                <a:cs typeface="Calibri" pitchFamily="34" charset="-120"/>
              </a:rPr>
              <a:t>🔵 THIS WEEK  1d ago</a:t>
            </a:r>
            <a:endParaRPr lang="en-US" sz="800" dirty="0"/>
          </a:p>
        </p:txBody>
      </p:sp>
      <p:sp>
        <p:nvSpPr>
          <p:cNvPr id="20" name="Text 18"/>
          <p:cNvSpPr/>
          <p:nvPr/>
        </p:nvSpPr>
        <p:spPr>
          <a:xfrm>
            <a:off x="621792" y="3621024"/>
            <a:ext cx="320040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Software Eng — UML diagram required by Friday</a:t>
            </a:r>
            <a:endParaRPr lang="en-US" sz="1100" dirty="0"/>
          </a:p>
        </p:txBody>
      </p:sp>
      <p:sp>
        <p:nvSpPr>
          <p:cNvPr id="21" name="Shape 19"/>
          <p:cNvSpPr/>
          <p:nvPr/>
        </p:nvSpPr>
        <p:spPr>
          <a:xfrm>
            <a:off x="3977640" y="3547872"/>
            <a:ext cx="960120" cy="274320"/>
          </a:xfrm>
          <a:prstGeom prst="roundRect">
            <a:avLst>
              <a:gd name="adj" fmla="val 16667"/>
            </a:avLst>
          </a:prstGeom>
          <a:solidFill>
            <a:srgbClr val="0D9488"/>
          </a:solidFill>
          <a:ln/>
        </p:spPr>
      </p:sp>
      <p:sp>
        <p:nvSpPr>
          <p:cNvPr id="22" name="Text 20"/>
          <p:cNvSpPr/>
          <p:nvPr/>
        </p:nvSpPr>
        <p:spPr>
          <a:xfrm>
            <a:off x="3977640" y="3547872"/>
            <a:ext cx="9601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 to plan</a:t>
            </a:r>
            <a:endParaRPr lang="en-US" sz="800" dirty="0"/>
          </a:p>
        </p:txBody>
      </p:sp>
      <p:sp>
        <p:nvSpPr>
          <p:cNvPr id="23" name="Text 21"/>
          <p:cNvSpPr/>
          <p:nvPr/>
        </p:nvSpPr>
        <p:spPr>
          <a:xfrm>
            <a:off x="5394960" y="1143000"/>
            <a:ext cx="3429000" cy="292608"/>
          </a:xfrm>
          <a:prstGeom prst="rect">
            <a:avLst/>
          </a:prstGeom>
          <a:noFill/>
          <a:ln/>
        </p:spPr>
        <p:txBody>
          <a:bodyPr wrap="square" lIns="0" tIns="0" rIns="0" bIns="0" rtlCol="0" anchor="t"/>
          <a:lstStyle/>
          <a:p>
            <a:pPr algn="l" indent="0" marL="0">
              <a:buNone/>
            </a:pPr>
            <a:r>
              <a:rPr lang="en-US" sz="1200" b="1" dirty="0">
                <a:solidFill>
                  <a:srgbClr val="0A1628"/>
                </a:solidFill>
                <a:latin typeface="Calibri" pitchFamily="34" charset="0"/>
                <a:ea typeface="Calibri" pitchFamily="34" charset="-122"/>
                <a:cs typeface="Calibri" pitchFamily="34" charset="-120"/>
              </a:rPr>
              <a:t>🔗  5-platform aggregation</a:t>
            </a:r>
            <a:endParaRPr lang="en-US" sz="1200" dirty="0"/>
          </a:p>
        </p:txBody>
      </p:sp>
      <p:sp>
        <p:nvSpPr>
          <p:cNvPr id="24" name="Text 22"/>
          <p:cNvSpPr/>
          <p:nvPr/>
        </p:nvSpPr>
        <p:spPr>
          <a:xfrm>
            <a:off x="5394960" y="1444752"/>
            <a:ext cx="3429000" cy="274320"/>
          </a:xfrm>
          <a:prstGeom prst="rect">
            <a:avLst/>
          </a:prstGeom>
          <a:noFill/>
          <a:ln/>
        </p:spPr>
        <p:txBody>
          <a:bodyPr wrap="square" lIns="0" tIns="0" rIns="0" bIns="0" rtlCol="0" anchor="t"/>
          <a:lstStyle/>
          <a:p>
            <a:pPr algn="l" indent="0" marL="0">
              <a:buNone/>
            </a:pPr>
            <a:r>
              <a:rPr lang="en-US" sz="1100" dirty="0">
                <a:solidFill>
                  <a:srgbClr val="475569"/>
                </a:solidFill>
                <a:latin typeface="Calibri" pitchFamily="34" charset="0"/>
                <a:ea typeface="Calibri" pitchFamily="34" charset="-122"/>
                <a:cs typeface="Calibri" pitchFamily="34" charset="-120"/>
              </a:rPr>
              <a:t>Moodle, Teams, Messenger, Discord, WhatsApp</a:t>
            </a:r>
            <a:endParaRPr lang="en-US" sz="1100" dirty="0"/>
          </a:p>
        </p:txBody>
      </p:sp>
      <p:sp>
        <p:nvSpPr>
          <p:cNvPr id="25" name="Shape 23"/>
          <p:cNvSpPr/>
          <p:nvPr/>
        </p:nvSpPr>
        <p:spPr>
          <a:xfrm>
            <a:off x="5394960" y="1828800"/>
            <a:ext cx="3383280" cy="0"/>
          </a:xfrm>
          <a:prstGeom prst="line">
            <a:avLst/>
          </a:prstGeom>
          <a:noFill/>
          <a:ln w="6350">
            <a:solidFill>
              <a:srgbClr val="E2E8F0"/>
            </a:solidFill>
            <a:prstDash val="solid"/>
          </a:ln>
        </p:spPr>
      </p:sp>
      <p:sp>
        <p:nvSpPr>
          <p:cNvPr id="26" name="Text 24"/>
          <p:cNvSpPr/>
          <p:nvPr/>
        </p:nvSpPr>
        <p:spPr>
          <a:xfrm>
            <a:off x="5394960" y="1856232"/>
            <a:ext cx="3429000" cy="292608"/>
          </a:xfrm>
          <a:prstGeom prst="rect">
            <a:avLst/>
          </a:prstGeom>
          <a:noFill/>
          <a:ln/>
        </p:spPr>
        <p:txBody>
          <a:bodyPr wrap="square" lIns="0" tIns="0" rIns="0" bIns="0" rtlCol="0" anchor="t"/>
          <a:lstStyle/>
          <a:p>
            <a:pPr algn="l" indent="0" marL="0">
              <a:buNone/>
            </a:pPr>
            <a:r>
              <a:rPr lang="en-US" sz="1200" b="1" dirty="0">
                <a:solidFill>
                  <a:srgbClr val="0A1628"/>
                </a:solidFill>
                <a:latin typeface="Calibri" pitchFamily="34" charset="0"/>
                <a:ea typeface="Calibri" pitchFamily="34" charset="-122"/>
                <a:cs typeface="Calibri" pitchFamily="34" charset="-120"/>
              </a:rPr>
              <a:t>⚡  Intelligent triage engine</a:t>
            </a:r>
            <a:endParaRPr lang="en-US" sz="1200" dirty="0"/>
          </a:p>
        </p:txBody>
      </p:sp>
      <p:sp>
        <p:nvSpPr>
          <p:cNvPr id="27" name="Text 25"/>
          <p:cNvSpPr/>
          <p:nvPr/>
        </p:nvSpPr>
        <p:spPr>
          <a:xfrm>
            <a:off x="5394960" y="2157984"/>
            <a:ext cx="3429000" cy="274320"/>
          </a:xfrm>
          <a:prstGeom prst="rect">
            <a:avLst/>
          </a:prstGeom>
          <a:noFill/>
          <a:ln/>
        </p:spPr>
        <p:txBody>
          <a:bodyPr wrap="square" lIns="0" tIns="0" rIns="0" bIns="0" rtlCol="0" anchor="t"/>
          <a:lstStyle/>
          <a:p>
            <a:pPr algn="l" indent="0" marL="0">
              <a:buNone/>
            </a:pPr>
            <a:r>
              <a:rPr lang="en-US" sz="1100" dirty="0">
                <a:solidFill>
                  <a:srgbClr val="475569"/>
                </a:solidFill>
                <a:latin typeface="Calibri" pitchFamily="34" charset="0"/>
                <a:ea typeface="Calibri" pitchFamily="34" charset="-122"/>
                <a:cs typeface="Calibri" pitchFamily="34" charset="-120"/>
              </a:rPr>
              <a:t>Filters noise; surfaces only critical items</a:t>
            </a:r>
            <a:endParaRPr lang="en-US" sz="1100" dirty="0"/>
          </a:p>
        </p:txBody>
      </p:sp>
      <p:sp>
        <p:nvSpPr>
          <p:cNvPr id="28" name="Shape 26"/>
          <p:cNvSpPr/>
          <p:nvPr/>
        </p:nvSpPr>
        <p:spPr>
          <a:xfrm>
            <a:off x="5394960" y="2542032"/>
            <a:ext cx="3383280" cy="0"/>
          </a:xfrm>
          <a:prstGeom prst="line">
            <a:avLst/>
          </a:prstGeom>
          <a:noFill/>
          <a:ln w="6350">
            <a:solidFill>
              <a:srgbClr val="E2E8F0"/>
            </a:solidFill>
            <a:prstDash val="solid"/>
          </a:ln>
        </p:spPr>
      </p:sp>
      <p:sp>
        <p:nvSpPr>
          <p:cNvPr id="29" name="Text 27"/>
          <p:cNvSpPr/>
          <p:nvPr/>
        </p:nvSpPr>
        <p:spPr>
          <a:xfrm>
            <a:off x="5394960" y="2569464"/>
            <a:ext cx="3429000" cy="292608"/>
          </a:xfrm>
          <a:prstGeom prst="rect">
            <a:avLst/>
          </a:prstGeom>
          <a:noFill/>
          <a:ln/>
        </p:spPr>
        <p:txBody>
          <a:bodyPr wrap="square" lIns="0" tIns="0" rIns="0" bIns="0" rtlCol="0" anchor="t"/>
          <a:lstStyle/>
          <a:p>
            <a:pPr algn="l" indent="0" marL="0">
              <a:buNone/>
            </a:pPr>
            <a:r>
              <a:rPr lang="en-US" sz="1200" b="1" dirty="0">
                <a:solidFill>
                  <a:srgbClr val="0A1628"/>
                </a:solidFill>
                <a:latin typeface="Calibri" pitchFamily="34" charset="0"/>
                <a:ea typeface="Calibri" pitchFamily="34" charset="-122"/>
                <a:cs typeface="Calibri" pitchFamily="34" charset="-120"/>
              </a:rPr>
              <a:t>✅  Acknowledge &amp; plan action</a:t>
            </a:r>
            <a:endParaRPr lang="en-US" sz="1200" dirty="0"/>
          </a:p>
        </p:txBody>
      </p:sp>
      <p:sp>
        <p:nvSpPr>
          <p:cNvPr id="30" name="Text 28"/>
          <p:cNvSpPr/>
          <p:nvPr/>
        </p:nvSpPr>
        <p:spPr>
          <a:xfrm>
            <a:off x="5394960" y="2871216"/>
            <a:ext cx="3429000" cy="274320"/>
          </a:xfrm>
          <a:prstGeom prst="rect">
            <a:avLst/>
          </a:prstGeom>
          <a:noFill/>
          <a:ln/>
        </p:spPr>
        <p:txBody>
          <a:bodyPr wrap="square" lIns="0" tIns="0" rIns="0" bIns="0" rtlCol="0" anchor="t"/>
          <a:lstStyle/>
          <a:p>
            <a:pPr algn="l" indent="0" marL="0">
              <a:buNone/>
            </a:pPr>
            <a:r>
              <a:rPr lang="en-US" sz="1100" dirty="0">
                <a:solidFill>
                  <a:srgbClr val="475569"/>
                </a:solidFill>
                <a:latin typeface="Calibri" pitchFamily="34" charset="0"/>
                <a:ea typeface="Calibri" pitchFamily="34" charset="-122"/>
                <a:cs typeface="Calibri" pitchFamily="34" charset="-120"/>
              </a:rPr>
              <a:t>One tap to move item into weekly schedule</a:t>
            </a:r>
            <a:endParaRPr lang="en-US" sz="1100" dirty="0"/>
          </a:p>
        </p:txBody>
      </p:sp>
      <p:sp>
        <p:nvSpPr>
          <p:cNvPr id="31" name="Shape 29"/>
          <p:cNvSpPr/>
          <p:nvPr/>
        </p:nvSpPr>
        <p:spPr>
          <a:xfrm>
            <a:off x="5394960" y="3255264"/>
            <a:ext cx="3383280" cy="0"/>
          </a:xfrm>
          <a:prstGeom prst="line">
            <a:avLst/>
          </a:prstGeom>
          <a:noFill/>
          <a:ln w="6350">
            <a:solidFill>
              <a:srgbClr val="E2E8F0"/>
            </a:solidFill>
            <a:prstDash val="solid"/>
          </a:ln>
        </p:spPr>
      </p:sp>
      <p:sp>
        <p:nvSpPr>
          <p:cNvPr id="32" name="Text 30"/>
          <p:cNvSpPr/>
          <p:nvPr/>
        </p:nvSpPr>
        <p:spPr>
          <a:xfrm>
            <a:off x="5394960" y="3282696"/>
            <a:ext cx="3429000" cy="292608"/>
          </a:xfrm>
          <a:prstGeom prst="rect">
            <a:avLst/>
          </a:prstGeom>
          <a:noFill/>
          <a:ln/>
        </p:spPr>
        <p:txBody>
          <a:bodyPr wrap="square" lIns="0" tIns="0" rIns="0" bIns="0" rtlCol="0" anchor="t"/>
          <a:lstStyle/>
          <a:p>
            <a:pPr algn="l" indent="0" marL="0">
              <a:buNone/>
            </a:pPr>
            <a:r>
              <a:rPr lang="en-US" sz="1200" b="1" dirty="0">
                <a:solidFill>
                  <a:srgbClr val="0A1628"/>
                </a:solidFill>
                <a:latin typeface="Calibri" pitchFamily="34" charset="0"/>
                <a:ea typeface="Calibri" pitchFamily="34" charset="-122"/>
                <a:cs typeface="Calibri" pitchFamily="34" charset="-120"/>
              </a:rPr>
              <a:t>📊  Mixpanel analytics</a:t>
            </a:r>
            <a:endParaRPr lang="en-US" sz="1200" dirty="0"/>
          </a:p>
        </p:txBody>
      </p:sp>
      <p:sp>
        <p:nvSpPr>
          <p:cNvPr id="33" name="Text 31"/>
          <p:cNvSpPr/>
          <p:nvPr/>
        </p:nvSpPr>
        <p:spPr>
          <a:xfrm>
            <a:off x="5394960" y="3584448"/>
            <a:ext cx="3429000" cy="274320"/>
          </a:xfrm>
          <a:prstGeom prst="rect">
            <a:avLst/>
          </a:prstGeom>
          <a:noFill/>
          <a:ln/>
        </p:spPr>
        <p:txBody>
          <a:bodyPr wrap="square" lIns="0" tIns="0" rIns="0" bIns="0" rtlCol="0" anchor="t"/>
          <a:lstStyle/>
          <a:p>
            <a:pPr algn="l" indent="0" marL="0">
              <a:buNone/>
            </a:pPr>
            <a:r>
              <a:rPr lang="en-US" sz="1100" dirty="0">
                <a:solidFill>
                  <a:srgbClr val="475569"/>
                </a:solidFill>
                <a:latin typeface="Calibri" pitchFamily="34" charset="0"/>
                <a:ea typeface="Calibri" pitchFamily="34" charset="-122"/>
                <a:cs typeface="Calibri" pitchFamily="34" charset="-120"/>
              </a:rPr>
              <a:t>acknowledge_update event tracking live</a:t>
            </a:r>
            <a:endParaRPr lang="en-US" sz="1100" dirty="0"/>
          </a:p>
        </p:txBody>
      </p:sp>
      <p:sp>
        <p:nvSpPr>
          <p:cNvPr id="34" name="Shape 32"/>
          <p:cNvSpPr/>
          <p:nvPr/>
        </p:nvSpPr>
        <p:spPr>
          <a:xfrm>
            <a:off x="5394960" y="3968496"/>
            <a:ext cx="3383280" cy="0"/>
          </a:xfrm>
          <a:prstGeom prst="line">
            <a:avLst/>
          </a:prstGeom>
          <a:noFill/>
          <a:ln w="6350">
            <a:solidFill>
              <a:srgbClr val="E2E8F0"/>
            </a:solidFill>
            <a:prstDash val="solid"/>
          </a:ln>
        </p:spPr>
      </p:sp>
      <p:sp>
        <p:nvSpPr>
          <p:cNvPr id="35" name="Text 33"/>
          <p:cNvSpPr/>
          <p:nvPr/>
        </p:nvSpPr>
        <p:spPr>
          <a:xfrm>
            <a:off x="5394960" y="3995928"/>
            <a:ext cx="3429000" cy="292608"/>
          </a:xfrm>
          <a:prstGeom prst="rect">
            <a:avLst/>
          </a:prstGeom>
          <a:noFill/>
          <a:ln/>
        </p:spPr>
        <p:txBody>
          <a:bodyPr wrap="square" lIns="0" tIns="0" rIns="0" bIns="0" rtlCol="0" anchor="t"/>
          <a:lstStyle/>
          <a:p>
            <a:pPr algn="l" indent="0" marL="0">
              <a:buNone/>
            </a:pPr>
            <a:r>
              <a:rPr lang="en-US" sz="1200" b="1" dirty="0">
                <a:solidFill>
                  <a:srgbClr val="0A1628"/>
                </a:solidFill>
                <a:latin typeface="Calibri" pitchFamily="34" charset="0"/>
                <a:ea typeface="Calibri" pitchFamily="34" charset="-122"/>
                <a:cs typeface="Calibri" pitchFamily="34" charset="-120"/>
              </a:rPr>
              <a:t>🚀  Staging deploy ready</a:t>
            </a:r>
            <a:endParaRPr lang="en-US" sz="1200" dirty="0"/>
          </a:p>
        </p:txBody>
      </p:sp>
      <p:sp>
        <p:nvSpPr>
          <p:cNvPr id="36" name="Text 34"/>
          <p:cNvSpPr/>
          <p:nvPr/>
        </p:nvSpPr>
        <p:spPr>
          <a:xfrm>
            <a:off x="5394960" y="4297680"/>
            <a:ext cx="3429000" cy="274320"/>
          </a:xfrm>
          <a:prstGeom prst="rect">
            <a:avLst/>
          </a:prstGeom>
          <a:noFill/>
          <a:ln/>
        </p:spPr>
        <p:txBody>
          <a:bodyPr wrap="square" lIns="0" tIns="0" rIns="0" bIns="0" rtlCol="0" anchor="t"/>
          <a:lstStyle/>
          <a:p>
            <a:pPr algn="l" indent="0" marL="0">
              <a:buNone/>
            </a:pPr>
            <a:r>
              <a:rPr lang="en-US" sz="1100" dirty="0">
                <a:solidFill>
                  <a:srgbClr val="475569"/>
                </a:solidFill>
                <a:latin typeface="Calibri" pitchFamily="34" charset="0"/>
                <a:ea typeface="Calibri" pitchFamily="34" charset="-122"/>
                <a:cs typeface="Calibri" pitchFamily="34" charset="-120"/>
              </a:rPr>
              <a:t>kiu-nexus.vercel.app — launching Fall 2026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Traction</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Pre-launch — foundation built across discovery, product, and GTM</a:t>
            </a:r>
            <a:endParaRPr lang="en-US" sz="1200" dirty="0"/>
          </a:p>
        </p:txBody>
      </p:sp>
      <p:sp>
        <p:nvSpPr>
          <p:cNvPr id="5" name="Shape 3"/>
          <p:cNvSpPr/>
          <p:nvPr/>
        </p:nvSpPr>
        <p:spPr>
          <a:xfrm>
            <a:off x="320040" y="1143000"/>
            <a:ext cx="1965960" cy="1371600"/>
          </a:xfrm>
          <a:prstGeom prst="roundRect">
            <a:avLst>
              <a:gd name="adj" fmla="val 6667"/>
            </a:avLst>
          </a:prstGeom>
          <a:solidFill>
            <a:srgbClr val="0A1628"/>
          </a:solidFill>
          <a:ln/>
          <a:effectLst>
            <a:outerShdw sx="100000" sy="100000" kx="0" ky="0" algn="bl" rotWithShape="0" blurRad="76200" dist="25400" dir="2700000">
              <a:srgbClr val="000000">
                <a:alpha val="12000"/>
              </a:srgbClr>
            </a:outerShdw>
          </a:effectLst>
        </p:spPr>
      </p:sp>
      <p:sp>
        <p:nvSpPr>
          <p:cNvPr id="6" name="Text 4"/>
          <p:cNvSpPr/>
          <p:nvPr/>
        </p:nvSpPr>
        <p:spPr>
          <a:xfrm>
            <a:off x="320040" y="1188720"/>
            <a:ext cx="1965960" cy="685800"/>
          </a:xfrm>
          <a:prstGeom prst="rect">
            <a:avLst/>
          </a:prstGeom>
          <a:noFill/>
          <a:ln/>
        </p:spPr>
        <p:txBody>
          <a:bodyPr wrap="square" lIns="0" tIns="0" rIns="0" bIns="0" rtlCol="0" anchor="ctr"/>
          <a:lstStyle/>
          <a:p>
            <a:pPr algn="ctr" indent="0" marL="0">
              <a:buNone/>
            </a:pPr>
            <a:r>
              <a:rPr lang="en-US" sz="3600" b="1" dirty="0">
                <a:solidFill>
                  <a:srgbClr val="0D9488"/>
                </a:solidFill>
                <a:latin typeface="Cambria" pitchFamily="34" charset="0"/>
                <a:ea typeface="Cambria" pitchFamily="34" charset="-122"/>
                <a:cs typeface="Cambria" pitchFamily="34" charset="-120"/>
              </a:rPr>
              <a:t>8</a:t>
            </a:r>
            <a:endParaRPr lang="en-US" sz="3600" dirty="0"/>
          </a:p>
        </p:txBody>
      </p:sp>
      <p:sp>
        <p:nvSpPr>
          <p:cNvPr id="7" name="Text 5"/>
          <p:cNvSpPr/>
          <p:nvPr/>
        </p:nvSpPr>
        <p:spPr>
          <a:xfrm>
            <a:off x="365760" y="1874520"/>
            <a:ext cx="1874520" cy="32004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Discovery interviews</a:t>
            </a:r>
            <a:endParaRPr lang="en-US" sz="1100" dirty="0"/>
          </a:p>
        </p:txBody>
      </p:sp>
      <p:sp>
        <p:nvSpPr>
          <p:cNvPr id="8" name="Text 6"/>
          <p:cNvSpPr/>
          <p:nvPr/>
        </p:nvSpPr>
        <p:spPr>
          <a:xfrm>
            <a:off x="365760" y="2176272"/>
            <a:ext cx="187452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with third-year KIU CS students</a:t>
            </a:r>
            <a:endParaRPr lang="en-US" sz="900" dirty="0"/>
          </a:p>
        </p:txBody>
      </p:sp>
      <p:sp>
        <p:nvSpPr>
          <p:cNvPr id="9" name="Shape 7"/>
          <p:cNvSpPr/>
          <p:nvPr/>
        </p:nvSpPr>
        <p:spPr>
          <a:xfrm>
            <a:off x="2468880" y="1143000"/>
            <a:ext cx="1965960" cy="1371600"/>
          </a:xfrm>
          <a:prstGeom prst="roundRect">
            <a:avLst>
              <a:gd name="adj" fmla="val 6667"/>
            </a:avLst>
          </a:prstGeom>
          <a:solidFill>
            <a:srgbClr val="0A1628"/>
          </a:solidFill>
          <a:ln/>
          <a:effectLst>
            <a:outerShdw sx="100000" sy="100000" kx="0" ky="0" algn="bl" rotWithShape="0" blurRad="76200" dist="25400" dir="2700000">
              <a:srgbClr val="000000">
                <a:alpha val="12000"/>
              </a:srgbClr>
            </a:outerShdw>
          </a:effectLst>
        </p:spPr>
      </p:sp>
      <p:sp>
        <p:nvSpPr>
          <p:cNvPr id="10" name="Text 8"/>
          <p:cNvSpPr/>
          <p:nvPr/>
        </p:nvSpPr>
        <p:spPr>
          <a:xfrm>
            <a:off x="2468880" y="1188720"/>
            <a:ext cx="1965960" cy="685800"/>
          </a:xfrm>
          <a:prstGeom prst="rect">
            <a:avLst/>
          </a:prstGeom>
          <a:noFill/>
          <a:ln/>
        </p:spPr>
        <p:txBody>
          <a:bodyPr wrap="square" lIns="0" tIns="0" rIns="0" bIns="0" rtlCol="0" anchor="ctr"/>
          <a:lstStyle/>
          <a:p>
            <a:pPr algn="ctr" indent="0" marL="0">
              <a:buNone/>
            </a:pPr>
            <a:r>
              <a:rPr lang="en-US" sz="3600" b="1" dirty="0">
                <a:solidFill>
                  <a:srgbClr val="F59E0B"/>
                </a:solidFill>
                <a:latin typeface="Cambria" pitchFamily="34" charset="0"/>
                <a:ea typeface="Cambria" pitchFamily="34" charset="-122"/>
                <a:cs typeface="Cambria" pitchFamily="34" charset="-120"/>
              </a:rPr>
              <a:t>5</a:t>
            </a:r>
            <a:endParaRPr lang="en-US" sz="3600" dirty="0"/>
          </a:p>
        </p:txBody>
      </p:sp>
      <p:sp>
        <p:nvSpPr>
          <p:cNvPr id="11" name="Text 9"/>
          <p:cNvSpPr/>
          <p:nvPr/>
        </p:nvSpPr>
        <p:spPr>
          <a:xfrm>
            <a:off x="2514600" y="1874520"/>
            <a:ext cx="1874520" cy="32004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Pain dimensions mapped</a:t>
            </a:r>
            <a:endParaRPr lang="en-US" sz="1100" dirty="0"/>
          </a:p>
        </p:txBody>
      </p:sp>
      <p:sp>
        <p:nvSpPr>
          <p:cNvPr id="12" name="Text 10"/>
          <p:cNvSpPr/>
          <p:nvPr/>
        </p:nvSpPr>
        <p:spPr>
          <a:xfrm>
            <a:off x="2514600" y="2176272"/>
            <a:ext cx="187452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time, grades, integrity, workarounds, asker role</a:t>
            </a:r>
            <a:endParaRPr lang="en-US" sz="900" dirty="0"/>
          </a:p>
        </p:txBody>
      </p:sp>
      <p:sp>
        <p:nvSpPr>
          <p:cNvPr id="13" name="Shape 11"/>
          <p:cNvSpPr/>
          <p:nvPr/>
        </p:nvSpPr>
        <p:spPr>
          <a:xfrm>
            <a:off x="4617720" y="1143000"/>
            <a:ext cx="1965960" cy="1371600"/>
          </a:xfrm>
          <a:prstGeom prst="roundRect">
            <a:avLst>
              <a:gd name="adj" fmla="val 6667"/>
            </a:avLst>
          </a:prstGeom>
          <a:solidFill>
            <a:srgbClr val="0A1628"/>
          </a:solidFill>
          <a:ln/>
          <a:effectLst>
            <a:outerShdw sx="100000" sy="100000" kx="0" ky="0" algn="bl" rotWithShape="0" blurRad="76200" dist="25400" dir="2700000">
              <a:srgbClr val="000000">
                <a:alpha val="12000"/>
              </a:srgbClr>
            </a:outerShdw>
          </a:effectLst>
        </p:spPr>
      </p:sp>
      <p:sp>
        <p:nvSpPr>
          <p:cNvPr id="14" name="Text 12"/>
          <p:cNvSpPr/>
          <p:nvPr/>
        </p:nvSpPr>
        <p:spPr>
          <a:xfrm>
            <a:off x="4617720" y="1188720"/>
            <a:ext cx="1965960" cy="685800"/>
          </a:xfrm>
          <a:prstGeom prst="rect">
            <a:avLst/>
          </a:prstGeom>
          <a:noFill/>
          <a:ln/>
        </p:spPr>
        <p:txBody>
          <a:bodyPr wrap="square" lIns="0" tIns="0" rIns="0" bIns="0" rtlCol="0" anchor="ctr"/>
          <a:lstStyle/>
          <a:p>
            <a:pPr algn="ctr" indent="0" marL="0">
              <a:buNone/>
            </a:pPr>
            <a:r>
              <a:rPr lang="en-US" sz="3600" b="1" dirty="0">
                <a:solidFill>
                  <a:srgbClr val="22D3EE"/>
                </a:solidFill>
                <a:latin typeface="Cambria" pitchFamily="34" charset="0"/>
                <a:ea typeface="Cambria" pitchFamily="34" charset="-122"/>
                <a:cs typeface="Cambria" pitchFamily="34" charset="-120"/>
              </a:rPr>
              <a:t>MVP</a:t>
            </a:r>
            <a:endParaRPr lang="en-US" sz="3600" dirty="0"/>
          </a:p>
        </p:txBody>
      </p:sp>
      <p:sp>
        <p:nvSpPr>
          <p:cNvPr id="15" name="Text 13"/>
          <p:cNvSpPr/>
          <p:nvPr/>
        </p:nvSpPr>
        <p:spPr>
          <a:xfrm>
            <a:off x="4663440" y="1874520"/>
            <a:ext cx="1874520" cy="32004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Activation flow</a:t>
            </a:r>
            <a:endParaRPr lang="en-US" sz="1100" dirty="0"/>
          </a:p>
        </p:txBody>
      </p:sp>
      <p:sp>
        <p:nvSpPr>
          <p:cNvPr id="16" name="Text 14"/>
          <p:cNvSpPr/>
          <p:nvPr/>
        </p:nvSpPr>
        <p:spPr>
          <a:xfrm>
            <a:off x="4663440" y="2176272"/>
            <a:ext cx="187452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built and tested</a:t>
            </a:r>
            <a:endParaRPr lang="en-US" sz="900" dirty="0"/>
          </a:p>
        </p:txBody>
      </p:sp>
      <p:sp>
        <p:nvSpPr>
          <p:cNvPr id="17" name="Shape 15"/>
          <p:cNvSpPr/>
          <p:nvPr/>
        </p:nvSpPr>
        <p:spPr>
          <a:xfrm>
            <a:off x="6766560" y="1143000"/>
            <a:ext cx="1965960" cy="1371600"/>
          </a:xfrm>
          <a:prstGeom prst="roundRect">
            <a:avLst>
              <a:gd name="adj" fmla="val 6667"/>
            </a:avLst>
          </a:prstGeom>
          <a:solidFill>
            <a:srgbClr val="0A1628"/>
          </a:solidFill>
          <a:ln/>
          <a:effectLst>
            <a:outerShdw sx="100000" sy="100000" kx="0" ky="0" algn="bl" rotWithShape="0" blurRad="76200" dist="25400" dir="2700000">
              <a:srgbClr val="000000">
                <a:alpha val="12000"/>
              </a:srgbClr>
            </a:outerShdw>
          </a:effectLst>
        </p:spPr>
      </p:sp>
      <p:sp>
        <p:nvSpPr>
          <p:cNvPr id="18" name="Text 16"/>
          <p:cNvSpPr/>
          <p:nvPr/>
        </p:nvSpPr>
        <p:spPr>
          <a:xfrm>
            <a:off x="6766560" y="1188720"/>
            <a:ext cx="1965960" cy="685800"/>
          </a:xfrm>
          <a:prstGeom prst="rect">
            <a:avLst/>
          </a:prstGeom>
          <a:noFill/>
          <a:ln/>
        </p:spPr>
        <p:txBody>
          <a:bodyPr wrap="square" lIns="0" tIns="0" rIns="0" bIns="0" rtlCol="0" anchor="ctr"/>
          <a:lstStyle/>
          <a:p>
            <a:pPr algn="ctr" indent="0" marL="0">
              <a:buNone/>
            </a:pPr>
            <a:r>
              <a:rPr lang="en-US" sz="3600" b="1" dirty="0">
                <a:solidFill>
                  <a:srgbClr val="14B8A6"/>
                </a:solidFill>
                <a:latin typeface="Cambria" pitchFamily="34" charset="0"/>
                <a:ea typeface="Cambria" pitchFamily="34" charset="-122"/>
                <a:cs typeface="Cambria" pitchFamily="34" charset="-120"/>
              </a:rPr>
              <a:t>✓</a:t>
            </a:r>
            <a:endParaRPr lang="en-US" sz="3600" dirty="0"/>
          </a:p>
        </p:txBody>
      </p:sp>
      <p:sp>
        <p:nvSpPr>
          <p:cNvPr id="19" name="Text 17"/>
          <p:cNvSpPr/>
          <p:nvPr/>
        </p:nvSpPr>
        <p:spPr>
          <a:xfrm>
            <a:off x="6812280" y="1874520"/>
            <a:ext cx="1874520" cy="32004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Analytics ready</a:t>
            </a:r>
            <a:endParaRPr lang="en-US" sz="1100" dirty="0"/>
          </a:p>
        </p:txBody>
      </p:sp>
      <p:sp>
        <p:nvSpPr>
          <p:cNvPr id="20" name="Text 18"/>
          <p:cNvSpPr/>
          <p:nvPr/>
        </p:nvSpPr>
        <p:spPr>
          <a:xfrm>
            <a:off x="6812280" y="2176272"/>
            <a:ext cx="187452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Mixpanel dashboard configured</a:t>
            </a:r>
            <a:endParaRPr lang="en-US" sz="900" dirty="0"/>
          </a:p>
        </p:txBody>
      </p:sp>
      <p:sp>
        <p:nvSpPr>
          <p:cNvPr id="21" name="Text 19"/>
          <p:cNvSpPr/>
          <p:nvPr/>
        </p:nvSpPr>
        <p:spPr>
          <a:xfrm>
            <a:off x="365760" y="2697480"/>
            <a:ext cx="8412480" cy="347472"/>
          </a:xfrm>
          <a:prstGeom prst="rect">
            <a:avLst/>
          </a:prstGeom>
          <a:noFill/>
          <a:ln/>
        </p:spPr>
        <p:txBody>
          <a:bodyPr wrap="square" lIns="0" tIns="0" rIns="0" bIns="0" rtlCol="0" anchor="t"/>
          <a:lstStyle/>
          <a:p>
            <a:pPr algn="l" indent="0" marL="0">
              <a:buNone/>
            </a:pPr>
            <a:r>
              <a:rPr lang="en-US" sz="1400" b="1" dirty="0">
                <a:solidFill>
                  <a:srgbClr val="0A1628"/>
                </a:solidFill>
                <a:latin typeface="Calibri" pitchFamily="34" charset="0"/>
                <a:ea typeface="Calibri" pitchFamily="34" charset="-122"/>
                <a:cs typeface="Calibri" pitchFamily="34" charset="-120"/>
              </a:rPr>
              <a:t>GTM Channels Ready</a:t>
            </a:r>
            <a:endParaRPr lang="en-US" sz="1400" dirty="0"/>
          </a:p>
        </p:txBody>
      </p:sp>
      <p:sp>
        <p:nvSpPr>
          <p:cNvPr id="22" name="Shape 20"/>
          <p:cNvSpPr/>
          <p:nvPr/>
        </p:nvSpPr>
        <p:spPr>
          <a:xfrm>
            <a:off x="365760" y="3127248"/>
            <a:ext cx="8412480" cy="475488"/>
          </a:xfrm>
          <a:prstGeom prst="roundRect">
            <a:avLst>
              <a:gd name="adj" fmla="val 13462"/>
            </a:avLst>
          </a:prstGeom>
          <a:solidFill>
            <a:srgbClr val="E0F2FE"/>
          </a:solidFill>
          <a:ln w="6350">
            <a:solidFill>
              <a:srgbClr val="E2E8F0"/>
            </a:solidFill>
            <a:prstDash val="solid"/>
          </a:ln>
        </p:spPr>
      </p:sp>
      <p:sp>
        <p:nvSpPr>
          <p:cNvPr id="23" name="Text 21"/>
          <p:cNvSpPr/>
          <p:nvPr/>
        </p:nvSpPr>
        <p:spPr>
          <a:xfrm>
            <a:off x="502920" y="3163824"/>
            <a:ext cx="3200400" cy="402336"/>
          </a:xfrm>
          <a:prstGeom prst="rect">
            <a:avLst/>
          </a:prstGeom>
          <a:noFill/>
          <a:ln/>
        </p:spPr>
        <p:txBody>
          <a:bodyPr wrap="square" lIns="0" tIns="0" rIns="0" bIns="0" rtlCol="0" anchor="ctr"/>
          <a:lstStyle/>
          <a:p>
            <a:pPr algn="l" indent="0" marL="0">
              <a:buNone/>
            </a:pPr>
            <a:r>
              <a:rPr lang="en-US" sz="1200" b="1" dirty="0">
                <a:solidFill>
                  <a:srgbClr val="0A1628"/>
                </a:solidFill>
                <a:latin typeface="Calibri" pitchFamily="34" charset="0"/>
                <a:ea typeface="Calibri" pitchFamily="34" charset="-122"/>
                <a:cs typeface="Calibri" pitchFamily="34" charset="-120"/>
              </a:rPr>
              <a:t>→  KIU Messenger groups</a:t>
            </a:r>
            <a:endParaRPr lang="en-US" sz="1200" dirty="0"/>
          </a:p>
        </p:txBody>
      </p:sp>
      <p:sp>
        <p:nvSpPr>
          <p:cNvPr id="24" name="Text 22"/>
          <p:cNvSpPr/>
          <p:nvPr/>
        </p:nvSpPr>
        <p:spPr>
          <a:xfrm>
            <a:off x="3840480" y="3163824"/>
            <a:ext cx="4754880" cy="402336"/>
          </a:xfrm>
          <a:prstGeom prst="rect">
            <a:avLst/>
          </a:prstGeom>
          <a:noFill/>
          <a:ln/>
        </p:spPr>
        <p:txBody>
          <a:bodyPr wrap="square" lIns="0" tIns="0" rIns="0" bIns="0"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Immediate organic fit — share onboarding demos</a:t>
            </a:r>
            <a:endParaRPr lang="en-US" sz="1100" dirty="0"/>
          </a:p>
        </p:txBody>
      </p:sp>
      <p:sp>
        <p:nvSpPr>
          <p:cNvPr id="25" name="Shape 23"/>
          <p:cNvSpPr/>
          <p:nvPr/>
        </p:nvSpPr>
        <p:spPr>
          <a:xfrm>
            <a:off x="365760" y="3703320"/>
            <a:ext cx="8412480" cy="475488"/>
          </a:xfrm>
          <a:prstGeom prst="roundRect">
            <a:avLst>
              <a:gd name="adj" fmla="val 13462"/>
            </a:avLst>
          </a:prstGeom>
          <a:solidFill>
            <a:srgbClr val="E0F2FE"/>
          </a:solidFill>
          <a:ln w="6350">
            <a:solidFill>
              <a:srgbClr val="E2E8F0"/>
            </a:solidFill>
            <a:prstDash val="solid"/>
          </a:ln>
        </p:spPr>
      </p:sp>
      <p:sp>
        <p:nvSpPr>
          <p:cNvPr id="26" name="Text 24"/>
          <p:cNvSpPr/>
          <p:nvPr/>
        </p:nvSpPr>
        <p:spPr>
          <a:xfrm>
            <a:off x="502920" y="3739896"/>
            <a:ext cx="3200400" cy="402336"/>
          </a:xfrm>
          <a:prstGeom prst="rect">
            <a:avLst/>
          </a:prstGeom>
          <a:noFill/>
          <a:ln/>
        </p:spPr>
        <p:txBody>
          <a:bodyPr wrap="square" lIns="0" tIns="0" rIns="0" bIns="0" rtlCol="0" anchor="ctr"/>
          <a:lstStyle/>
          <a:p>
            <a:pPr algn="l" indent="0" marL="0">
              <a:buNone/>
            </a:pPr>
            <a:r>
              <a:rPr lang="en-US" sz="1200" b="1" dirty="0">
                <a:solidFill>
                  <a:srgbClr val="0A1628"/>
                </a:solidFill>
                <a:latin typeface="Calibri" pitchFamily="34" charset="0"/>
                <a:ea typeface="Calibri" pitchFamily="34" charset="-122"/>
                <a:cs typeface="Calibri" pitchFamily="34" charset="-120"/>
              </a:rPr>
              <a:t>→  Bridge / asker referrals</a:t>
            </a:r>
            <a:endParaRPr lang="en-US" sz="1200" dirty="0"/>
          </a:p>
        </p:txBody>
      </p:sp>
      <p:sp>
        <p:nvSpPr>
          <p:cNvPr id="27" name="Text 25"/>
          <p:cNvSpPr/>
          <p:nvPr/>
        </p:nvSpPr>
        <p:spPr>
          <a:xfrm>
            <a:off x="3840480" y="3739896"/>
            <a:ext cx="4754880" cy="402336"/>
          </a:xfrm>
          <a:prstGeom prst="rect">
            <a:avLst/>
          </a:prstGeom>
          <a:noFill/>
          <a:ln/>
        </p:spPr>
        <p:txBody>
          <a:bodyPr wrap="square" lIns="0" tIns="0" rIns="0" bIns="0"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Early users are natural coordinators who spread within project groups</a:t>
            </a:r>
            <a:endParaRPr lang="en-US" sz="1100" dirty="0"/>
          </a:p>
        </p:txBody>
      </p:sp>
      <p:sp>
        <p:nvSpPr>
          <p:cNvPr id="28" name="Shape 26"/>
          <p:cNvSpPr/>
          <p:nvPr/>
        </p:nvSpPr>
        <p:spPr>
          <a:xfrm>
            <a:off x="365760" y="4279392"/>
            <a:ext cx="8412480" cy="475488"/>
          </a:xfrm>
          <a:prstGeom prst="roundRect">
            <a:avLst>
              <a:gd name="adj" fmla="val 13462"/>
            </a:avLst>
          </a:prstGeom>
          <a:solidFill>
            <a:srgbClr val="E0F2FE"/>
          </a:solidFill>
          <a:ln w="6350">
            <a:solidFill>
              <a:srgbClr val="E2E8F0"/>
            </a:solidFill>
            <a:prstDash val="solid"/>
          </a:ln>
        </p:spPr>
      </p:sp>
      <p:sp>
        <p:nvSpPr>
          <p:cNvPr id="29" name="Text 27"/>
          <p:cNvSpPr/>
          <p:nvPr/>
        </p:nvSpPr>
        <p:spPr>
          <a:xfrm>
            <a:off x="502920" y="4315968"/>
            <a:ext cx="3200400" cy="402336"/>
          </a:xfrm>
          <a:prstGeom prst="rect">
            <a:avLst/>
          </a:prstGeom>
          <a:noFill/>
          <a:ln/>
        </p:spPr>
        <p:txBody>
          <a:bodyPr wrap="square" lIns="0" tIns="0" rIns="0" bIns="0" rtlCol="0" anchor="ctr"/>
          <a:lstStyle/>
          <a:p>
            <a:pPr algn="l" indent="0" marL="0">
              <a:buNone/>
            </a:pPr>
            <a:r>
              <a:rPr lang="en-US" sz="1200" b="1" dirty="0">
                <a:solidFill>
                  <a:srgbClr val="0A1628"/>
                </a:solidFill>
                <a:latin typeface="Calibri" pitchFamily="34" charset="0"/>
                <a:ea typeface="Calibri" pitchFamily="34" charset="-122"/>
                <a:cs typeface="Calibri" pitchFamily="34" charset="-120"/>
              </a:rPr>
              <a:t>→  Discord &amp; student communities</a:t>
            </a:r>
            <a:endParaRPr lang="en-US" sz="1200" dirty="0"/>
          </a:p>
        </p:txBody>
      </p:sp>
      <p:sp>
        <p:nvSpPr>
          <p:cNvPr id="30" name="Text 28"/>
          <p:cNvSpPr/>
          <p:nvPr/>
        </p:nvSpPr>
        <p:spPr>
          <a:xfrm>
            <a:off x="3840480" y="4315968"/>
            <a:ext cx="4754880" cy="402336"/>
          </a:xfrm>
          <a:prstGeom prst="rect">
            <a:avLst/>
          </a:prstGeom>
          <a:noFill/>
          <a:ln/>
        </p:spPr>
        <p:txBody>
          <a:bodyPr wrap="square" lIns="0" tIns="0" rIns="0" bIns="0"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Complementary reach into active technical networks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Business Model</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Free MVP → institutional site licence → proven unit economics</a:t>
            </a:r>
            <a:endParaRPr lang="en-US" sz="1200" dirty="0"/>
          </a:p>
        </p:txBody>
      </p:sp>
      <p:sp>
        <p:nvSpPr>
          <p:cNvPr id="5" name="Shape 3"/>
          <p:cNvSpPr/>
          <p:nvPr/>
        </p:nvSpPr>
        <p:spPr>
          <a:xfrm>
            <a:off x="365760" y="1097280"/>
            <a:ext cx="8412480" cy="731520"/>
          </a:xfrm>
          <a:prstGeom prst="roundRect">
            <a:avLst>
              <a:gd name="adj" fmla="val 10000"/>
            </a:avLst>
          </a:prstGeom>
          <a:solidFill>
            <a:srgbClr val="0A1628"/>
          </a:solidFill>
          <a:ln/>
        </p:spPr>
      </p:sp>
      <p:sp>
        <p:nvSpPr>
          <p:cNvPr id="6" name="Text 4"/>
          <p:cNvSpPr/>
          <p:nvPr/>
        </p:nvSpPr>
        <p:spPr>
          <a:xfrm>
            <a:off x="502920" y="1097280"/>
            <a:ext cx="8229600" cy="731520"/>
          </a:xfrm>
          <a:prstGeom prst="rect">
            <a:avLst/>
          </a:prstGeom>
          <a:noFill/>
          <a:ln/>
        </p:spPr>
        <p:txBody>
          <a:bodyPr wrap="square" lIns="0" tIns="0" rIns="0" bIns="0"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Phase 1: Free student MVP  →  Phase 2: KIU institutional site licence for third-year CS cohorts</a:t>
            </a:r>
            <a:endParaRPr lang="en-US" sz="1300" dirty="0"/>
          </a:p>
        </p:txBody>
      </p:sp>
      <p:sp>
        <p:nvSpPr>
          <p:cNvPr id="7" name="Shape 5"/>
          <p:cNvSpPr/>
          <p:nvPr/>
        </p:nvSpPr>
        <p:spPr>
          <a:xfrm>
            <a:off x="320040" y="1965960"/>
            <a:ext cx="1965960" cy="1463040"/>
          </a:xfrm>
          <a:prstGeom prst="roundRect">
            <a:avLst>
              <a:gd name="adj" fmla="val 6250"/>
            </a:avLst>
          </a:prstGeom>
          <a:solidFill>
            <a:srgbClr val="0A1628"/>
          </a:solidFill>
          <a:ln/>
          <a:effectLst>
            <a:outerShdw sx="100000" sy="100000" kx="0" ky="0" algn="bl" rotWithShape="0" blurRad="101600" dist="38100" dir="2700000">
              <a:srgbClr val="000000">
                <a:alpha val="14000"/>
              </a:srgbClr>
            </a:outerShdw>
          </a:effectLst>
        </p:spPr>
      </p:sp>
      <p:sp>
        <p:nvSpPr>
          <p:cNvPr id="8" name="Text 6"/>
          <p:cNvSpPr/>
          <p:nvPr/>
        </p:nvSpPr>
        <p:spPr>
          <a:xfrm>
            <a:off x="320040" y="2029968"/>
            <a:ext cx="1965960" cy="822960"/>
          </a:xfrm>
          <a:prstGeom prst="rect">
            <a:avLst/>
          </a:prstGeom>
          <a:noFill/>
          <a:ln/>
        </p:spPr>
        <p:txBody>
          <a:bodyPr wrap="square" lIns="0" tIns="0" rIns="0" bIns="0" rtlCol="0" anchor="ctr"/>
          <a:lstStyle/>
          <a:p>
            <a:pPr algn="ctr" indent="0" marL="0">
              <a:buNone/>
            </a:pPr>
            <a:r>
              <a:rPr lang="en-US" sz="3200" b="1" dirty="0">
                <a:solidFill>
                  <a:srgbClr val="0D9488"/>
                </a:solidFill>
                <a:latin typeface="Cambria" pitchFamily="34" charset="0"/>
                <a:ea typeface="Cambria" pitchFamily="34" charset="-122"/>
                <a:cs typeface="Cambria" pitchFamily="34" charset="-120"/>
              </a:rPr>
              <a:t>$6.33</a:t>
            </a:r>
            <a:endParaRPr lang="en-US" sz="3200" dirty="0"/>
          </a:p>
        </p:txBody>
      </p:sp>
      <p:sp>
        <p:nvSpPr>
          <p:cNvPr id="9" name="Text 7"/>
          <p:cNvSpPr/>
          <p:nvPr/>
        </p:nvSpPr>
        <p:spPr>
          <a:xfrm>
            <a:off x="365760" y="2834640"/>
            <a:ext cx="187452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CAC</a:t>
            </a:r>
            <a:endParaRPr lang="en-US" sz="1300" dirty="0"/>
          </a:p>
        </p:txBody>
      </p:sp>
      <p:sp>
        <p:nvSpPr>
          <p:cNvPr id="10" name="Text 8"/>
          <p:cNvSpPr/>
          <p:nvPr/>
        </p:nvSpPr>
        <p:spPr>
          <a:xfrm>
            <a:off x="365760" y="3127248"/>
            <a:ext cx="1874520" cy="256032"/>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Blended across 3 channels</a:t>
            </a:r>
            <a:endParaRPr lang="en-US" sz="900" dirty="0"/>
          </a:p>
        </p:txBody>
      </p:sp>
      <p:sp>
        <p:nvSpPr>
          <p:cNvPr id="11" name="Shape 9"/>
          <p:cNvSpPr/>
          <p:nvPr/>
        </p:nvSpPr>
        <p:spPr>
          <a:xfrm>
            <a:off x="2468880" y="1965960"/>
            <a:ext cx="1965960" cy="1463040"/>
          </a:xfrm>
          <a:prstGeom prst="roundRect">
            <a:avLst>
              <a:gd name="adj" fmla="val 6250"/>
            </a:avLst>
          </a:prstGeom>
          <a:solidFill>
            <a:srgbClr val="0A1628"/>
          </a:solidFill>
          <a:ln/>
          <a:effectLst>
            <a:outerShdw sx="100000" sy="100000" kx="0" ky="0" algn="bl" rotWithShape="0" blurRad="101600" dist="38100" dir="2700000">
              <a:srgbClr val="000000">
                <a:alpha val="14000"/>
              </a:srgbClr>
            </a:outerShdw>
          </a:effectLst>
        </p:spPr>
      </p:sp>
      <p:sp>
        <p:nvSpPr>
          <p:cNvPr id="12" name="Text 10"/>
          <p:cNvSpPr/>
          <p:nvPr/>
        </p:nvSpPr>
        <p:spPr>
          <a:xfrm>
            <a:off x="2468880" y="2029968"/>
            <a:ext cx="1965960" cy="822960"/>
          </a:xfrm>
          <a:prstGeom prst="rect">
            <a:avLst/>
          </a:prstGeom>
          <a:noFill/>
          <a:ln/>
        </p:spPr>
        <p:txBody>
          <a:bodyPr wrap="square" lIns="0" tIns="0" rIns="0" bIns="0" rtlCol="0" anchor="ctr"/>
          <a:lstStyle/>
          <a:p>
            <a:pPr algn="ctr" indent="0" marL="0">
              <a:buNone/>
            </a:pPr>
            <a:r>
              <a:rPr lang="en-US" sz="3200" b="1" dirty="0">
                <a:solidFill>
                  <a:srgbClr val="F59E0B"/>
                </a:solidFill>
                <a:latin typeface="Cambria" pitchFamily="34" charset="0"/>
                <a:ea typeface="Cambria" pitchFamily="34" charset="-122"/>
                <a:cs typeface="Cambria" pitchFamily="34" charset="-120"/>
              </a:rPr>
              <a:t>$25.80</a:t>
            </a:r>
            <a:endParaRPr lang="en-US" sz="3200" dirty="0"/>
          </a:p>
        </p:txBody>
      </p:sp>
      <p:sp>
        <p:nvSpPr>
          <p:cNvPr id="13" name="Text 11"/>
          <p:cNvSpPr/>
          <p:nvPr/>
        </p:nvSpPr>
        <p:spPr>
          <a:xfrm>
            <a:off x="2514600" y="2834640"/>
            <a:ext cx="187452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LTV</a:t>
            </a:r>
            <a:endParaRPr lang="en-US" sz="1300" dirty="0"/>
          </a:p>
        </p:txBody>
      </p:sp>
      <p:sp>
        <p:nvSpPr>
          <p:cNvPr id="14" name="Text 12"/>
          <p:cNvSpPr/>
          <p:nvPr/>
        </p:nvSpPr>
        <p:spPr>
          <a:xfrm>
            <a:off x="2514600" y="3127248"/>
            <a:ext cx="1874520" cy="256032"/>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4-month active lifetime proxy</a:t>
            </a:r>
            <a:endParaRPr lang="en-US" sz="900" dirty="0"/>
          </a:p>
        </p:txBody>
      </p:sp>
      <p:sp>
        <p:nvSpPr>
          <p:cNvPr id="15" name="Shape 13"/>
          <p:cNvSpPr/>
          <p:nvPr/>
        </p:nvSpPr>
        <p:spPr>
          <a:xfrm>
            <a:off x="4617720" y="1965960"/>
            <a:ext cx="1965960" cy="1463040"/>
          </a:xfrm>
          <a:prstGeom prst="roundRect">
            <a:avLst>
              <a:gd name="adj" fmla="val 6250"/>
            </a:avLst>
          </a:prstGeom>
          <a:solidFill>
            <a:srgbClr val="0A1628"/>
          </a:solidFill>
          <a:ln/>
          <a:effectLst>
            <a:outerShdw sx="100000" sy="100000" kx="0" ky="0" algn="bl" rotWithShape="0" blurRad="101600" dist="38100" dir="2700000">
              <a:srgbClr val="000000">
                <a:alpha val="14000"/>
              </a:srgbClr>
            </a:outerShdw>
          </a:effectLst>
        </p:spPr>
      </p:sp>
      <p:sp>
        <p:nvSpPr>
          <p:cNvPr id="16" name="Text 14"/>
          <p:cNvSpPr/>
          <p:nvPr/>
        </p:nvSpPr>
        <p:spPr>
          <a:xfrm>
            <a:off x="4617720" y="2029968"/>
            <a:ext cx="1965960" cy="822960"/>
          </a:xfrm>
          <a:prstGeom prst="rect">
            <a:avLst/>
          </a:prstGeom>
          <a:noFill/>
          <a:ln/>
        </p:spPr>
        <p:txBody>
          <a:bodyPr wrap="square" lIns="0" tIns="0" rIns="0" bIns="0" rtlCol="0" anchor="ctr"/>
          <a:lstStyle/>
          <a:p>
            <a:pPr algn="ctr" indent="0" marL="0">
              <a:buNone/>
            </a:pPr>
            <a:r>
              <a:rPr lang="en-US" sz="3200" b="1" dirty="0">
                <a:solidFill>
                  <a:srgbClr val="14B8A6"/>
                </a:solidFill>
                <a:latin typeface="Cambria" pitchFamily="34" charset="0"/>
                <a:ea typeface="Cambria" pitchFamily="34" charset="-122"/>
                <a:cs typeface="Cambria" pitchFamily="34" charset="-120"/>
              </a:rPr>
              <a:t>4.1:1</a:t>
            </a:r>
            <a:endParaRPr lang="en-US" sz="3200" dirty="0"/>
          </a:p>
        </p:txBody>
      </p:sp>
      <p:sp>
        <p:nvSpPr>
          <p:cNvPr id="17" name="Text 15"/>
          <p:cNvSpPr/>
          <p:nvPr/>
        </p:nvSpPr>
        <p:spPr>
          <a:xfrm>
            <a:off x="4663440" y="2834640"/>
            <a:ext cx="187452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LTV:CAC</a:t>
            </a:r>
            <a:endParaRPr lang="en-US" sz="1300" dirty="0"/>
          </a:p>
        </p:txBody>
      </p:sp>
      <p:sp>
        <p:nvSpPr>
          <p:cNvPr id="18" name="Text 16"/>
          <p:cNvSpPr/>
          <p:nvPr/>
        </p:nvSpPr>
        <p:spPr>
          <a:xfrm>
            <a:off x="4663440" y="3127248"/>
            <a:ext cx="1874520" cy="256032"/>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Strong for early-stage MVP</a:t>
            </a:r>
            <a:endParaRPr lang="en-US" sz="900" dirty="0"/>
          </a:p>
        </p:txBody>
      </p:sp>
      <p:sp>
        <p:nvSpPr>
          <p:cNvPr id="19" name="Shape 17"/>
          <p:cNvSpPr/>
          <p:nvPr/>
        </p:nvSpPr>
        <p:spPr>
          <a:xfrm>
            <a:off x="6766560" y="1965960"/>
            <a:ext cx="1965960" cy="1463040"/>
          </a:xfrm>
          <a:prstGeom prst="roundRect">
            <a:avLst>
              <a:gd name="adj" fmla="val 6250"/>
            </a:avLst>
          </a:prstGeom>
          <a:solidFill>
            <a:srgbClr val="0A1628"/>
          </a:solidFill>
          <a:ln/>
          <a:effectLst>
            <a:outerShdw sx="100000" sy="100000" kx="0" ky="0" algn="bl" rotWithShape="0" blurRad="101600" dist="38100" dir="2700000">
              <a:srgbClr val="000000">
                <a:alpha val="14000"/>
              </a:srgbClr>
            </a:outerShdw>
          </a:effectLst>
        </p:spPr>
      </p:sp>
      <p:sp>
        <p:nvSpPr>
          <p:cNvPr id="20" name="Text 18"/>
          <p:cNvSpPr/>
          <p:nvPr/>
        </p:nvSpPr>
        <p:spPr>
          <a:xfrm>
            <a:off x="6766560" y="2029968"/>
            <a:ext cx="1965960" cy="822960"/>
          </a:xfrm>
          <a:prstGeom prst="rect">
            <a:avLst/>
          </a:prstGeom>
          <a:noFill/>
          <a:ln/>
        </p:spPr>
        <p:txBody>
          <a:bodyPr wrap="square" lIns="0" tIns="0" rIns="0" bIns="0" rtlCol="0" anchor="ctr"/>
          <a:lstStyle/>
          <a:p>
            <a:pPr algn="ctr" indent="0" marL="0">
              <a:buNone/>
            </a:pPr>
            <a:r>
              <a:rPr lang="en-US" sz="3200" b="1" dirty="0">
                <a:solidFill>
                  <a:srgbClr val="A78BFA"/>
                </a:solidFill>
                <a:latin typeface="Cambria" pitchFamily="34" charset="0"/>
                <a:ea typeface="Cambria" pitchFamily="34" charset="-122"/>
                <a:cs typeface="Cambria" pitchFamily="34" charset="-120"/>
              </a:rPr>
              <a:t>~1 mo</a:t>
            </a:r>
            <a:endParaRPr lang="en-US" sz="3200" dirty="0"/>
          </a:p>
        </p:txBody>
      </p:sp>
      <p:sp>
        <p:nvSpPr>
          <p:cNvPr id="21" name="Text 19"/>
          <p:cNvSpPr/>
          <p:nvPr/>
        </p:nvSpPr>
        <p:spPr>
          <a:xfrm>
            <a:off x="6812280" y="2834640"/>
            <a:ext cx="187452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Payback</a:t>
            </a:r>
            <a:endParaRPr lang="en-US" sz="1300" dirty="0"/>
          </a:p>
        </p:txBody>
      </p:sp>
      <p:sp>
        <p:nvSpPr>
          <p:cNvPr id="22" name="Text 20"/>
          <p:cNvSpPr/>
          <p:nvPr/>
        </p:nvSpPr>
        <p:spPr>
          <a:xfrm>
            <a:off x="6812280" y="3127248"/>
            <a:ext cx="1874520" cy="256032"/>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CAC recovered in first month</a:t>
            </a:r>
            <a:endParaRPr lang="en-US" sz="900" dirty="0"/>
          </a:p>
        </p:txBody>
      </p:sp>
      <p:sp>
        <p:nvSpPr>
          <p:cNvPr id="23" name="Text 21"/>
          <p:cNvSpPr/>
          <p:nvPr/>
        </p:nvSpPr>
        <p:spPr>
          <a:xfrm>
            <a:off x="365760" y="3566160"/>
            <a:ext cx="4114800" cy="347472"/>
          </a:xfrm>
          <a:prstGeom prst="rect">
            <a:avLst/>
          </a:prstGeom>
          <a:noFill/>
          <a:ln/>
        </p:spPr>
        <p:txBody>
          <a:bodyPr wrap="square" lIns="0" tIns="0" rIns="0" bIns="0" rtlCol="0" anchor="t"/>
          <a:lstStyle/>
          <a:p>
            <a:pPr algn="l" indent="0" marL="0">
              <a:buNone/>
            </a:pPr>
            <a:r>
              <a:rPr lang="en-US" sz="1300" b="1" dirty="0">
                <a:solidFill>
                  <a:srgbClr val="0A1628"/>
                </a:solidFill>
                <a:latin typeface="Calibri" pitchFamily="34" charset="0"/>
                <a:ea typeface="Calibri" pitchFamily="34" charset="-122"/>
                <a:cs typeface="Calibri" pitchFamily="34" charset="-120"/>
              </a:rPr>
              <a:t>Channel CAC Breakdown</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3950208"/>
          <a:ext cx="5029200" cy="914400"/>
        </p:xfrm>
        <a:graphic>
          <a:graphicData uri="http://schemas.openxmlformats.org/drawingml/2006/table">
            <a:tbl>
              <a:tblPr/>
              <a:tblGrid>
                <a:gridCol w="2194560"/>
                <a:gridCol w="822960"/>
                <a:gridCol w="960120"/>
                <a:gridCol w="914400"/>
              </a:tblGrid>
              <a:tr h="18288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Channel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Spend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Activations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18288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Instagram / WhatsApp</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$180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$6.00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18288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RA Referrals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$6.00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18288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Dorm Posters (QR)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182880">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Blended Total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$380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0D9488"/>
                          </a:solidFill>
                          <a:latin typeface="Calibri" pitchFamily="34" charset="0"/>
                          <a:ea typeface="Calibri" pitchFamily="34" charset="-122"/>
                          <a:cs typeface="Calibri" pitchFamily="34" charset="-120"/>
                        </a:rPr>
                        <a:t>$6.33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25" name="Shape 22"/>
          <p:cNvSpPr/>
          <p:nvPr/>
        </p:nvSpPr>
        <p:spPr>
          <a:xfrm>
            <a:off x="5577840" y="3566160"/>
            <a:ext cx="3246120" cy="1325880"/>
          </a:xfrm>
          <a:prstGeom prst="roundRect">
            <a:avLst>
              <a:gd name="adj" fmla="val 5517"/>
            </a:avLst>
          </a:prstGeom>
          <a:solidFill>
            <a:srgbClr val="E0F2FE"/>
          </a:solidFill>
          <a:ln/>
        </p:spPr>
      </p:sp>
      <p:sp>
        <p:nvSpPr>
          <p:cNvPr id="26" name="Text 23"/>
          <p:cNvSpPr/>
          <p:nvPr/>
        </p:nvSpPr>
        <p:spPr>
          <a:xfrm>
            <a:off x="5669280" y="3630168"/>
            <a:ext cx="3017520" cy="292608"/>
          </a:xfrm>
          <a:prstGeom prst="rect">
            <a:avLst/>
          </a:prstGeom>
          <a:noFill/>
          <a:ln/>
        </p:spPr>
        <p:txBody>
          <a:bodyPr wrap="square" lIns="0" tIns="0" rIns="0" bIns="0" rtlCol="0" anchor="t"/>
          <a:lstStyle/>
          <a:p>
            <a:pPr algn="l" indent="0" marL="0">
              <a:buNone/>
            </a:pPr>
            <a:r>
              <a:rPr lang="en-US" sz="1100" b="1" dirty="0">
                <a:solidFill>
                  <a:srgbClr val="0A1628"/>
                </a:solidFill>
                <a:latin typeface="Calibri" pitchFamily="34" charset="0"/>
                <a:ea typeface="Calibri" pitchFamily="34" charset="-122"/>
                <a:cs typeface="Calibri" pitchFamily="34" charset="-120"/>
              </a:rPr>
              <a:t>Sensitivity check</a:t>
            </a:r>
            <a:endParaRPr lang="en-US" sz="1100" dirty="0"/>
          </a:p>
        </p:txBody>
      </p:sp>
      <p:sp>
        <p:nvSpPr>
          <p:cNvPr id="27" name="Text 24"/>
          <p:cNvSpPr/>
          <p:nvPr/>
        </p:nvSpPr>
        <p:spPr>
          <a:xfrm>
            <a:off x="5669280" y="3950208"/>
            <a:ext cx="3017520" cy="868680"/>
          </a:xfrm>
          <a:prstGeom prst="rect">
            <a:avLst/>
          </a:prstGeom>
          <a:noFill/>
          <a:ln/>
        </p:spPr>
        <p:txBody>
          <a:bodyPr wrap="square" lIns="0" tIns="0" rIns="0" bIns="0"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Conservative: LTV $12.90, LTV:CAC 2.0</a:t>
            </a:r>
            <a:endParaRPr lang="en-US" sz="1000" dirty="0"/>
          </a:p>
          <a:p>
            <a:pPr algn="l" indent="0" marL="0">
              <a:buNone/>
            </a:pPr>
            <a:r>
              <a:rPr lang="en-US" sz="1000" dirty="0">
                <a:solidFill>
                  <a:srgbClr val="475569"/>
                </a:solidFill>
                <a:latin typeface="Calibri" pitchFamily="34" charset="0"/>
                <a:ea typeface="Calibri" pitchFamily="34" charset="-122"/>
                <a:cs typeface="Calibri" pitchFamily="34" charset="-120"/>
              </a:rPr>
              <a:t>Base: LTV $25.80, LTV:CAC 4.1</a:t>
            </a:r>
            <a:endParaRPr lang="en-US" sz="1000" dirty="0"/>
          </a:p>
          <a:p>
            <a:pPr algn="l" indent="0" marL="0">
              <a:buNone/>
            </a:pPr>
            <a:r>
              <a:rPr lang="en-US" sz="1000" dirty="0">
                <a:solidFill>
                  <a:srgbClr val="475569"/>
                </a:solidFill>
                <a:latin typeface="Calibri" pitchFamily="34" charset="0"/>
                <a:ea typeface="Calibri" pitchFamily="34" charset="-122"/>
                <a:cs typeface="Calibri" pitchFamily="34" charset="-120"/>
              </a:rPr>
              <a:t>Optimistic: LTV $48.25, LTV:CAC 7.6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Competitive Advantage</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The only product purpose-built for this job at this institution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8412480" cy="2468880"/>
        </p:xfrm>
        <a:graphic>
          <a:graphicData uri="http://schemas.openxmlformats.org/drawingml/2006/table">
            <a:tbl>
              <a:tblPr/>
              <a:tblGrid>
                <a:gridCol w="2103120"/>
                <a:gridCol w="1188720"/>
                <a:gridCol w="1234440"/>
                <a:gridCol w="1645920"/>
                <a:gridCol w="1097280"/>
                <a:gridCol w="1143000"/>
              </a:tblGrid>
              <a:tr h="352697">
                <a:tc>
                  <a:txBody>
                    <a:bodyPr/>
                    <a:lstStyle/>
                    <a:p>
                      <a:pPr algn="ct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Moodle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MS Teams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Calendar / Notion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Discord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14B8A6"/>
                          </a:solidFill>
                          <a:latin typeface="Calibri" pitchFamily="34" charset="0"/>
                          <a:ea typeface="Calibri" pitchFamily="34" charset="-122"/>
                          <a:cs typeface="Calibri" pitchFamily="34" charset="-120"/>
                        </a:rPr>
                        <a:t>KIU Nexus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Unified aggregation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Manual only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Intelligent triage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Zero-maintenance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Student-focused design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Mobile-first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Faculty integration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Roadmap</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bl>
          </a:graphicData>
        </a:graphic>
      </p:graphicFrame>
      <p:sp>
        <p:nvSpPr>
          <p:cNvPr id="6" name="Text 3"/>
          <p:cNvSpPr/>
          <p:nvPr/>
        </p:nvSpPr>
        <p:spPr>
          <a:xfrm>
            <a:off x="365760" y="3703320"/>
            <a:ext cx="8412480" cy="347472"/>
          </a:xfrm>
          <a:prstGeom prst="rect">
            <a:avLst/>
          </a:prstGeom>
          <a:noFill/>
          <a:ln/>
        </p:spPr>
        <p:txBody>
          <a:bodyPr wrap="square" lIns="0" tIns="0" rIns="0" bIns="0" rtlCol="0" anchor="t"/>
          <a:lstStyle/>
          <a:p>
            <a:pPr algn="l" indent="0" marL="0">
              <a:buNone/>
            </a:pPr>
            <a:r>
              <a:rPr lang="en-US" sz="1400" b="1" dirty="0">
                <a:solidFill>
                  <a:srgbClr val="0A1628"/>
                </a:solidFill>
                <a:latin typeface="Calibri" pitchFamily="34" charset="0"/>
                <a:ea typeface="Calibri" pitchFamily="34" charset="-122"/>
                <a:cs typeface="Calibri" pitchFamily="34" charset="-120"/>
              </a:rPr>
              <a:t>Defensible Moat: Switching Costs</a:t>
            </a:r>
            <a:endParaRPr lang="en-US" sz="1400" dirty="0"/>
          </a:p>
        </p:txBody>
      </p:sp>
      <p:sp>
        <p:nvSpPr>
          <p:cNvPr id="7" name="Text 4"/>
          <p:cNvSpPr/>
          <p:nvPr/>
        </p:nvSpPr>
        <p:spPr>
          <a:xfrm>
            <a:off x="457200" y="4096512"/>
            <a:ext cx="8229600" cy="274320"/>
          </a:xfrm>
          <a:prstGeom prst="rect">
            <a:avLst/>
          </a:prstGeom>
          <a:noFill/>
          <a:ln/>
        </p:spPr>
        <p:txBody>
          <a:bodyPr wrap="square" lIns="0" tIns="0" rIns="0" bIns="0" rtlCol="0" anchor="t"/>
          <a:lstStyle/>
          <a:p>
            <a:pPr algn="l" indent="0" marL="0">
              <a:buNone/>
            </a:pPr>
            <a:r>
              <a:rPr lang="en-US" sz="1100" dirty="0">
                <a:solidFill>
                  <a:srgbClr val="1E293B"/>
                </a:solidFill>
                <a:latin typeface="Calibri" pitchFamily="34" charset="0"/>
                <a:ea typeface="Calibri" pitchFamily="34" charset="-122"/>
                <a:cs typeface="Calibri" pitchFamily="34" charset="-120"/>
              </a:rPr>
              <a:t>🏠  Student habit formation (daily check-in ritual replaces 5-platform sweep)</a:t>
            </a:r>
            <a:endParaRPr lang="en-US" sz="1100" dirty="0"/>
          </a:p>
        </p:txBody>
      </p:sp>
      <p:sp>
        <p:nvSpPr>
          <p:cNvPr id="8" name="Text 5"/>
          <p:cNvSpPr/>
          <p:nvPr/>
        </p:nvSpPr>
        <p:spPr>
          <a:xfrm>
            <a:off x="457200" y="4425696"/>
            <a:ext cx="8229600" cy="274320"/>
          </a:xfrm>
          <a:prstGeom prst="rect">
            <a:avLst/>
          </a:prstGeom>
          <a:noFill/>
          <a:ln/>
        </p:spPr>
        <p:txBody>
          <a:bodyPr wrap="square" lIns="0" tIns="0" rIns="0" bIns="0" rtlCol="0" anchor="t"/>
          <a:lstStyle/>
          <a:p>
            <a:pPr algn="l" indent="0" marL="0">
              <a:buNone/>
            </a:pPr>
            <a:r>
              <a:rPr lang="en-US" sz="1100" dirty="0">
                <a:solidFill>
                  <a:srgbClr val="1E293B"/>
                </a:solidFill>
                <a:latin typeface="Calibri" pitchFamily="34" charset="0"/>
                <a:ea typeface="Calibri" pitchFamily="34" charset="-122"/>
                <a:cs typeface="Calibri" pitchFamily="34" charset="-120"/>
              </a:rPr>
              <a:t>🔗  Workflow dependency (downstream tool integrations create migration friction)</a:t>
            </a:r>
            <a:endParaRPr lang="en-US" sz="1100" dirty="0"/>
          </a:p>
        </p:txBody>
      </p:sp>
      <p:sp>
        <p:nvSpPr>
          <p:cNvPr id="9" name="Text 6"/>
          <p:cNvSpPr/>
          <p:nvPr/>
        </p:nvSpPr>
        <p:spPr>
          <a:xfrm>
            <a:off x="457200" y="4754880"/>
            <a:ext cx="8229600" cy="274320"/>
          </a:xfrm>
          <a:prstGeom prst="rect">
            <a:avLst/>
          </a:prstGeom>
          <a:noFill/>
          <a:ln/>
        </p:spPr>
        <p:txBody>
          <a:bodyPr wrap="square" lIns="0" tIns="0" rIns="0" bIns="0" rtlCol="0" anchor="t"/>
          <a:lstStyle/>
          <a:p>
            <a:pPr algn="l" indent="0" marL="0">
              <a:buNone/>
            </a:pPr>
            <a:r>
              <a:rPr lang="en-US" sz="1100" dirty="0">
                <a:solidFill>
                  <a:srgbClr val="1E293B"/>
                </a:solidFill>
                <a:latin typeface="Calibri" pitchFamily="34" charset="0"/>
                <a:ea typeface="Calibri" pitchFamily="34" charset="-122"/>
                <a:cs typeface="Calibri" pitchFamily="34" charset="-120"/>
              </a:rPr>
              <a:t>🏛  Institutional lock-in (faculty integrations make switching costly for both sides)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Go-to-Market &amp; Ask</a:t>
            </a:r>
            <a:endParaRPr lang="en-US" sz="3000" dirty="0"/>
          </a:p>
        </p:txBody>
      </p:sp>
      <p:sp>
        <p:nvSpPr>
          <p:cNvPr id="3" name="Text 1"/>
          <p:cNvSpPr/>
          <p:nvPr/>
        </p:nvSpPr>
        <p:spPr>
          <a:xfrm>
            <a:off x="457200" y="804672"/>
            <a:ext cx="8229600" cy="292608"/>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4-week targets  ·  60,000 GEL raise  ·  Fall 2026 deployment</a:t>
            </a:r>
            <a:endParaRPr lang="en-US" sz="1200" dirty="0"/>
          </a:p>
        </p:txBody>
      </p:sp>
      <p:sp>
        <p:nvSpPr>
          <p:cNvPr id="4" name="Shape 2"/>
          <p:cNvSpPr/>
          <p:nvPr/>
        </p:nvSpPr>
        <p:spPr>
          <a:xfrm>
            <a:off x="365760" y="1234440"/>
            <a:ext cx="4572000" cy="548640"/>
          </a:xfrm>
          <a:prstGeom prst="roundRect">
            <a:avLst>
              <a:gd name="adj" fmla="val 13333"/>
            </a:avLst>
          </a:prstGeom>
          <a:solidFill>
            <a:srgbClr val="1E293B"/>
          </a:solidFill>
          <a:ln/>
        </p:spPr>
      </p:sp>
      <p:sp>
        <p:nvSpPr>
          <p:cNvPr id="5" name="Text 3"/>
          <p:cNvSpPr/>
          <p:nvPr/>
        </p:nvSpPr>
        <p:spPr>
          <a:xfrm>
            <a:off x="502920" y="1280160"/>
            <a:ext cx="1691640" cy="457200"/>
          </a:xfrm>
          <a:prstGeom prst="rect">
            <a:avLst/>
          </a:prstGeom>
          <a:noFill/>
          <a:ln/>
        </p:spPr>
        <p:txBody>
          <a:bodyPr wrap="square" lIns="0" tIns="0" rIns="0" bIns="0" rtlCol="0" anchor="ctr"/>
          <a:lstStyle/>
          <a:p>
            <a:pPr algn="l" indent="0" marL="0">
              <a:buNone/>
            </a:pPr>
            <a:r>
              <a:rPr lang="en-US" sz="1200" b="1" dirty="0">
                <a:solidFill>
                  <a:srgbClr val="14B8A6"/>
                </a:solidFill>
                <a:latin typeface="Calibri" pitchFamily="34" charset="0"/>
                <a:ea typeface="Calibri" pitchFamily="34" charset="-122"/>
                <a:cs typeface="Calibri" pitchFamily="34" charset="-120"/>
              </a:rPr>
              <a:t>→  KIU Messenger</a:t>
            </a:r>
            <a:endParaRPr lang="en-US" sz="1200" dirty="0"/>
          </a:p>
        </p:txBody>
      </p:sp>
      <p:sp>
        <p:nvSpPr>
          <p:cNvPr id="6" name="Text 4"/>
          <p:cNvSpPr/>
          <p:nvPr/>
        </p:nvSpPr>
        <p:spPr>
          <a:xfrm>
            <a:off x="2286000" y="1280160"/>
            <a:ext cx="2560320" cy="45720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Organic onboarding demos via existing student groups</a:t>
            </a:r>
            <a:endParaRPr lang="en-US" sz="1100" dirty="0"/>
          </a:p>
        </p:txBody>
      </p:sp>
      <p:sp>
        <p:nvSpPr>
          <p:cNvPr id="7" name="Shape 5"/>
          <p:cNvSpPr/>
          <p:nvPr/>
        </p:nvSpPr>
        <p:spPr>
          <a:xfrm>
            <a:off x="365760" y="1892808"/>
            <a:ext cx="4572000" cy="548640"/>
          </a:xfrm>
          <a:prstGeom prst="roundRect">
            <a:avLst>
              <a:gd name="adj" fmla="val 13333"/>
            </a:avLst>
          </a:prstGeom>
          <a:solidFill>
            <a:srgbClr val="1E293B"/>
          </a:solidFill>
          <a:ln/>
        </p:spPr>
      </p:sp>
      <p:sp>
        <p:nvSpPr>
          <p:cNvPr id="8" name="Text 6"/>
          <p:cNvSpPr/>
          <p:nvPr/>
        </p:nvSpPr>
        <p:spPr>
          <a:xfrm>
            <a:off x="502920" y="1938528"/>
            <a:ext cx="1691640" cy="457200"/>
          </a:xfrm>
          <a:prstGeom prst="rect">
            <a:avLst/>
          </a:prstGeom>
          <a:noFill/>
          <a:ln/>
        </p:spPr>
        <p:txBody>
          <a:bodyPr wrap="square" lIns="0" tIns="0" rIns="0" bIns="0" rtlCol="0" anchor="ctr"/>
          <a:lstStyle/>
          <a:p>
            <a:pPr algn="l" indent="0" marL="0">
              <a:buNone/>
            </a:pPr>
            <a:r>
              <a:rPr lang="en-US" sz="1200" b="1" dirty="0">
                <a:solidFill>
                  <a:srgbClr val="14B8A6"/>
                </a:solidFill>
                <a:latin typeface="Calibri" pitchFamily="34" charset="0"/>
                <a:ea typeface="Calibri" pitchFamily="34" charset="-122"/>
                <a:cs typeface="Calibri" pitchFamily="34" charset="-120"/>
              </a:rPr>
              <a:t>→  Bridge referrals</a:t>
            </a:r>
            <a:endParaRPr lang="en-US" sz="1200" dirty="0"/>
          </a:p>
        </p:txBody>
      </p:sp>
      <p:sp>
        <p:nvSpPr>
          <p:cNvPr id="9" name="Text 7"/>
          <p:cNvSpPr/>
          <p:nvPr/>
        </p:nvSpPr>
        <p:spPr>
          <a:xfrm>
            <a:off x="2286000" y="1938528"/>
            <a:ext cx="2560320" cy="45720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Asker students invite teammates — natural network spread</a:t>
            </a:r>
            <a:endParaRPr lang="en-US" sz="1100" dirty="0"/>
          </a:p>
        </p:txBody>
      </p:sp>
      <p:sp>
        <p:nvSpPr>
          <p:cNvPr id="10" name="Shape 8"/>
          <p:cNvSpPr/>
          <p:nvPr/>
        </p:nvSpPr>
        <p:spPr>
          <a:xfrm>
            <a:off x="365760" y="2551176"/>
            <a:ext cx="4572000" cy="548640"/>
          </a:xfrm>
          <a:prstGeom prst="roundRect">
            <a:avLst>
              <a:gd name="adj" fmla="val 13333"/>
            </a:avLst>
          </a:prstGeom>
          <a:solidFill>
            <a:srgbClr val="1E293B"/>
          </a:solidFill>
          <a:ln/>
        </p:spPr>
      </p:sp>
      <p:sp>
        <p:nvSpPr>
          <p:cNvPr id="11" name="Text 9"/>
          <p:cNvSpPr/>
          <p:nvPr/>
        </p:nvSpPr>
        <p:spPr>
          <a:xfrm>
            <a:off x="502920" y="2596896"/>
            <a:ext cx="1691640" cy="457200"/>
          </a:xfrm>
          <a:prstGeom prst="rect">
            <a:avLst/>
          </a:prstGeom>
          <a:noFill/>
          <a:ln/>
        </p:spPr>
        <p:txBody>
          <a:bodyPr wrap="square" lIns="0" tIns="0" rIns="0" bIns="0" rtlCol="0" anchor="ctr"/>
          <a:lstStyle/>
          <a:p>
            <a:pPr algn="l" indent="0" marL="0">
              <a:buNone/>
            </a:pPr>
            <a:r>
              <a:rPr lang="en-US" sz="1200" b="1" dirty="0">
                <a:solidFill>
                  <a:srgbClr val="14B8A6"/>
                </a:solidFill>
                <a:latin typeface="Calibri" pitchFamily="34" charset="0"/>
                <a:ea typeface="Calibri" pitchFamily="34" charset="-122"/>
                <a:cs typeface="Calibri" pitchFamily="34" charset="-120"/>
              </a:rPr>
              <a:t>→  Discord / communities</a:t>
            </a:r>
            <a:endParaRPr lang="en-US" sz="1200" dirty="0"/>
          </a:p>
        </p:txBody>
      </p:sp>
      <p:sp>
        <p:nvSpPr>
          <p:cNvPr id="12" name="Text 10"/>
          <p:cNvSpPr/>
          <p:nvPr/>
        </p:nvSpPr>
        <p:spPr>
          <a:xfrm>
            <a:off x="2286000" y="2596896"/>
            <a:ext cx="2560320" cy="45720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Reach active technical student networks</a:t>
            </a:r>
            <a:endParaRPr lang="en-US" sz="1100" dirty="0"/>
          </a:p>
        </p:txBody>
      </p:sp>
      <p:sp>
        <p:nvSpPr>
          <p:cNvPr id="13" name="Text 11"/>
          <p:cNvSpPr/>
          <p:nvPr/>
        </p:nvSpPr>
        <p:spPr>
          <a:xfrm>
            <a:off x="365760" y="3246120"/>
            <a:ext cx="4572000" cy="329184"/>
          </a:xfrm>
          <a:prstGeom prst="rect">
            <a:avLst/>
          </a:prstGeom>
          <a:noFill/>
          <a:ln/>
        </p:spPr>
        <p:txBody>
          <a:bodyPr wrap="square" lIns="0" tIns="0" rIns="0" bIns="0" rtlCol="0" anchor="ctr"/>
          <a:lstStyle/>
          <a:p>
            <a:pPr algn="l" indent="0" marL="0">
              <a:buNone/>
            </a:pPr>
            <a:r>
              <a:rPr lang="en-US" sz="1300" b="1" dirty="0">
                <a:solidFill>
                  <a:srgbClr val="0D9488"/>
                </a:solidFill>
                <a:latin typeface="Calibri" pitchFamily="34" charset="0"/>
                <a:ea typeface="Calibri" pitchFamily="34" charset="-122"/>
                <a:cs typeface="Calibri" pitchFamily="34" charset="-120"/>
              </a:rPr>
              <a:t>4-Week Goals</a:t>
            </a:r>
            <a:endParaRPr lang="en-US" sz="1300" dirty="0"/>
          </a:p>
        </p:txBody>
      </p:sp>
      <p:sp>
        <p:nvSpPr>
          <p:cNvPr id="14" name="Text 12"/>
          <p:cNvSpPr/>
          <p:nvPr/>
        </p:nvSpPr>
        <p:spPr>
          <a:xfrm>
            <a:off x="365760" y="3611880"/>
            <a:ext cx="1051560" cy="457200"/>
          </a:xfrm>
          <a:prstGeom prst="rect">
            <a:avLst/>
          </a:prstGeom>
          <a:noFill/>
          <a:ln/>
        </p:spPr>
        <p:txBody>
          <a:bodyPr wrap="square" lIns="0" tIns="0" rIns="0" bIns="0" rtlCol="0" anchor="ctr"/>
          <a:lstStyle/>
          <a:p>
            <a:pPr algn="ctr" indent="0" marL="0">
              <a:buNone/>
            </a:pPr>
            <a:r>
              <a:rPr lang="en-US" sz="2600" b="1" dirty="0">
                <a:solidFill>
                  <a:srgbClr val="F59E0B"/>
                </a:solidFill>
                <a:latin typeface="Cambria" pitchFamily="34" charset="0"/>
                <a:ea typeface="Cambria" pitchFamily="34" charset="-122"/>
                <a:cs typeface="Cambria" pitchFamily="34" charset="-120"/>
              </a:rPr>
              <a:t>100</a:t>
            </a:r>
            <a:endParaRPr lang="en-US" sz="2600" dirty="0"/>
          </a:p>
        </p:txBody>
      </p:sp>
      <p:sp>
        <p:nvSpPr>
          <p:cNvPr id="15" name="Text 13"/>
          <p:cNvSpPr/>
          <p:nvPr/>
        </p:nvSpPr>
        <p:spPr>
          <a:xfrm>
            <a:off x="365760" y="4069080"/>
            <a:ext cx="105156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visitors</a:t>
            </a:r>
            <a:endParaRPr lang="en-US" sz="900" dirty="0"/>
          </a:p>
        </p:txBody>
      </p:sp>
      <p:sp>
        <p:nvSpPr>
          <p:cNvPr id="16" name="Text 14"/>
          <p:cNvSpPr/>
          <p:nvPr/>
        </p:nvSpPr>
        <p:spPr>
          <a:xfrm>
            <a:off x="1508760" y="3611880"/>
            <a:ext cx="1051560" cy="457200"/>
          </a:xfrm>
          <a:prstGeom prst="rect">
            <a:avLst/>
          </a:prstGeom>
          <a:noFill/>
          <a:ln/>
        </p:spPr>
        <p:txBody>
          <a:bodyPr wrap="square" lIns="0" tIns="0" rIns="0" bIns="0" rtlCol="0" anchor="ctr"/>
          <a:lstStyle/>
          <a:p>
            <a:pPr algn="ctr" indent="0" marL="0">
              <a:buNone/>
            </a:pPr>
            <a:r>
              <a:rPr lang="en-US" sz="2600" b="1" dirty="0">
                <a:solidFill>
                  <a:srgbClr val="F59E0B"/>
                </a:solidFill>
                <a:latin typeface="Cambria" pitchFamily="34" charset="0"/>
                <a:ea typeface="Cambria" pitchFamily="34" charset="-122"/>
                <a:cs typeface="Cambria" pitchFamily="34" charset="-120"/>
              </a:rPr>
              <a:t>40</a:t>
            </a:r>
            <a:endParaRPr lang="en-US" sz="2600" dirty="0"/>
          </a:p>
        </p:txBody>
      </p:sp>
      <p:sp>
        <p:nvSpPr>
          <p:cNvPr id="17" name="Text 15"/>
          <p:cNvSpPr/>
          <p:nvPr/>
        </p:nvSpPr>
        <p:spPr>
          <a:xfrm>
            <a:off x="1508760" y="4069080"/>
            <a:ext cx="105156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signups</a:t>
            </a:r>
            <a:endParaRPr lang="en-US" sz="900" dirty="0"/>
          </a:p>
        </p:txBody>
      </p:sp>
      <p:sp>
        <p:nvSpPr>
          <p:cNvPr id="18" name="Text 16"/>
          <p:cNvSpPr/>
          <p:nvPr/>
        </p:nvSpPr>
        <p:spPr>
          <a:xfrm>
            <a:off x="2651760" y="3611880"/>
            <a:ext cx="1051560" cy="457200"/>
          </a:xfrm>
          <a:prstGeom prst="rect">
            <a:avLst/>
          </a:prstGeom>
          <a:noFill/>
          <a:ln/>
        </p:spPr>
        <p:txBody>
          <a:bodyPr wrap="square" lIns="0" tIns="0" rIns="0" bIns="0" rtlCol="0" anchor="ctr"/>
          <a:lstStyle/>
          <a:p>
            <a:pPr algn="ctr" indent="0" marL="0">
              <a:buNone/>
            </a:pPr>
            <a:r>
              <a:rPr lang="en-US" sz="2600" b="1" dirty="0">
                <a:solidFill>
                  <a:srgbClr val="F59E0B"/>
                </a:solidFill>
                <a:latin typeface="Cambria" pitchFamily="34" charset="0"/>
                <a:ea typeface="Cambria" pitchFamily="34" charset="-122"/>
                <a:cs typeface="Cambria" pitchFamily="34" charset="-120"/>
              </a:rPr>
              <a:t>20</a:t>
            </a:r>
            <a:endParaRPr lang="en-US" sz="2600" dirty="0"/>
          </a:p>
        </p:txBody>
      </p:sp>
      <p:sp>
        <p:nvSpPr>
          <p:cNvPr id="19" name="Text 17"/>
          <p:cNvSpPr/>
          <p:nvPr/>
        </p:nvSpPr>
        <p:spPr>
          <a:xfrm>
            <a:off x="2651760" y="4069080"/>
            <a:ext cx="105156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activations</a:t>
            </a:r>
            <a:endParaRPr lang="en-US" sz="900" dirty="0"/>
          </a:p>
        </p:txBody>
      </p:sp>
      <p:sp>
        <p:nvSpPr>
          <p:cNvPr id="20" name="Text 18"/>
          <p:cNvSpPr/>
          <p:nvPr/>
        </p:nvSpPr>
        <p:spPr>
          <a:xfrm>
            <a:off x="3794760" y="3611880"/>
            <a:ext cx="1051560" cy="457200"/>
          </a:xfrm>
          <a:prstGeom prst="rect">
            <a:avLst/>
          </a:prstGeom>
          <a:noFill/>
          <a:ln/>
        </p:spPr>
        <p:txBody>
          <a:bodyPr wrap="square" lIns="0" tIns="0" rIns="0" bIns="0" rtlCol="0" anchor="ctr"/>
          <a:lstStyle/>
          <a:p>
            <a:pPr algn="ctr" indent="0" marL="0">
              <a:buNone/>
            </a:pPr>
            <a:r>
              <a:rPr lang="en-US" sz="2600" b="1" dirty="0">
                <a:solidFill>
                  <a:srgbClr val="F59E0B"/>
                </a:solidFill>
                <a:latin typeface="Cambria" pitchFamily="34" charset="0"/>
                <a:ea typeface="Cambria" pitchFamily="34" charset="-122"/>
                <a:cs typeface="Cambria" pitchFamily="34" charset="-120"/>
              </a:rPr>
              <a:t>30%</a:t>
            </a:r>
            <a:endParaRPr lang="en-US" sz="2600" dirty="0"/>
          </a:p>
        </p:txBody>
      </p:sp>
      <p:sp>
        <p:nvSpPr>
          <p:cNvPr id="21" name="Text 19"/>
          <p:cNvSpPr/>
          <p:nvPr/>
        </p:nvSpPr>
        <p:spPr>
          <a:xfrm>
            <a:off x="3794760" y="4069080"/>
            <a:ext cx="105156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invite a teammate</a:t>
            </a:r>
            <a:endParaRPr lang="en-US" sz="900" dirty="0"/>
          </a:p>
        </p:txBody>
      </p:sp>
      <p:sp>
        <p:nvSpPr>
          <p:cNvPr id="22" name="Shape 20"/>
          <p:cNvSpPr/>
          <p:nvPr/>
        </p:nvSpPr>
        <p:spPr>
          <a:xfrm>
            <a:off x="5166360" y="1143000"/>
            <a:ext cx="3657600" cy="3566160"/>
          </a:xfrm>
          <a:prstGeom prst="roundRect">
            <a:avLst>
              <a:gd name="adj" fmla="val 3590"/>
            </a:avLst>
          </a:prstGeom>
          <a:solidFill>
            <a:srgbClr val="0D9488">
              <a:alpha val="88000"/>
            </a:srgbClr>
          </a:solidFill>
          <a:ln/>
          <a:effectLst>
            <a:outerShdw sx="100000" sy="100000" kx="0" ky="0" algn="bl" rotWithShape="0" blurRad="127000" dist="50800" dir="2700000">
              <a:srgbClr val="000000">
                <a:alpha val="20000"/>
              </a:srgbClr>
            </a:outerShdw>
          </a:effectLst>
        </p:spPr>
      </p:sp>
      <p:sp>
        <p:nvSpPr>
          <p:cNvPr id="23" name="Text 21"/>
          <p:cNvSpPr/>
          <p:nvPr/>
        </p:nvSpPr>
        <p:spPr>
          <a:xfrm>
            <a:off x="5257800" y="1234440"/>
            <a:ext cx="347472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The Ask</a:t>
            </a:r>
            <a:endParaRPr lang="en-US" sz="1800" dirty="0"/>
          </a:p>
        </p:txBody>
      </p:sp>
      <p:sp>
        <p:nvSpPr>
          <p:cNvPr id="24" name="Text 22"/>
          <p:cNvSpPr/>
          <p:nvPr/>
        </p:nvSpPr>
        <p:spPr>
          <a:xfrm>
            <a:off x="5257800" y="1691640"/>
            <a:ext cx="3474720" cy="685800"/>
          </a:xfrm>
          <a:prstGeom prst="rect">
            <a:avLst/>
          </a:prstGeom>
          <a:noFill/>
          <a:ln/>
        </p:spPr>
        <p:txBody>
          <a:bodyPr wrap="square" lIns="0" tIns="0" rIns="0" bIns="0" rtlCol="0" anchor="ctr"/>
          <a:lstStyle/>
          <a:p>
            <a:pPr algn="ctr" indent="0" marL="0">
              <a:buNone/>
            </a:pPr>
            <a:r>
              <a:rPr lang="en-US" sz="3600" b="1" dirty="0">
                <a:solidFill>
                  <a:srgbClr val="F59E0B"/>
                </a:solidFill>
                <a:latin typeface="Cambria" pitchFamily="34" charset="0"/>
                <a:ea typeface="Cambria" pitchFamily="34" charset="-122"/>
                <a:cs typeface="Cambria" pitchFamily="34" charset="-120"/>
              </a:rPr>
              <a:t>60,000 GEL</a:t>
            </a:r>
            <a:endParaRPr lang="en-US" sz="3600" dirty="0"/>
          </a:p>
        </p:txBody>
      </p:sp>
      <p:sp>
        <p:nvSpPr>
          <p:cNvPr id="25" name="Text 23"/>
          <p:cNvSpPr/>
          <p:nvPr/>
        </p:nvSpPr>
        <p:spPr>
          <a:xfrm>
            <a:off x="5257800" y="2359152"/>
            <a:ext cx="3474720" cy="347472"/>
          </a:xfrm>
          <a:prstGeom prst="rect">
            <a:avLst/>
          </a:prstGeom>
          <a:noFill/>
          <a:ln/>
        </p:spPr>
        <p:txBody>
          <a:bodyPr wrap="square" lIns="0" tIns="0" rIns="0" bIns="0" rtlCol="0" anchor="t"/>
          <a:lstStyle/>
          <a:p>
            <a:pPr algn="ctr" indent="0" marL="0">
              <a:buNone/>
            </a:pPr>
            <a:r>
              <a:rPr lang="en-US" sz="1100" dirty="0">
                <a:solidFill>
                  <a:srgbClr val="14B8A6"/>
                </a:solidFill>
                <a:latin typeface="Calibri" pitchFamily="34" charset="0"/>
                <a:ea typeface="Calibri" pitchFamily="34" charset="-122"/>
                <a:cs typeface="Calibri" pitchFamily="34" charset="-120"/>
              </a:rPr>
              <a:t>at 250,000 GEL pre-money valuation</a:t>
            </a:r>
            <a:endParaRPr lang="en-US" sz="1100" dirty="0"/>
          </a:p>
        </p:txBody>
      </p:sp>
      <p:sp>
        <p:nvSpPr>
          <p:cNvPr id="26" name="Text 24"/>
          <p:cNvSpPr/>
          <p:nvPr/>
        </p:nvSpPr>
        <p:spPr>
          <a:xfrm>
            <a:off x="5303520" y="2816352"/>
            <a:ext cx="338328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  Deploy to 200 KIU students</a:t>
            </a:r>
            <a:endParaRPr lang="en-US" sz="1100" dirty="0"/>
          </a:p>
        </p:txBody>
      </p:sp>
      <p:sp>
        <p:nvSpPr>
          <p:cNvPr id="27" name="Text 25"/>
          <p:cNvSpPr/>
          <p:nvPr/>
        </p:nvSpPr>
        <p:spPr>
          <a:xfrm>
            <a:off x="5303520" y="3218688"/>
            <a:ext cx="338328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  Validate retention metrics</a:t>
            </a:r>
            <a:endParaRPr lang="en-US" sz="1100" dirty="0"/>
          </a:p>
        </p:txBody>
      </p:sp>
      <p:sp>
        <p:nvSpPr>
          <p:cNvPr id="28" name="Text 26"/>
          <p:cNvSpPr/>
          <p:nvPr/>
        </p:nvSpPr>
        <p:spPr>
          <a:xfrm>
            <a:off x="5303520" y="3621024"/>
            <a:ext cx="338328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  Secure faculty announcement pilot</a:t>
            </a:r>
            <a:endParaRPr lang="en-US" sz="1100" dirty="0"/>
          </a:p>
        </p:txBody>
      </p:sp>
      <p:sp>
        <p:nvSpPr>
          <p:cNvPr id="29" name="Text 27"/>
          <p:cNvSpPr/>
          <p:nvPr/>
        </p:nvSpPr>
        <p:spPr>
          <a:xfrm>
            <a:off x="5303520" y="4023360"/>
            <a:ext cx="338328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  KIU IT partnership (formal SLA)</a:t>
            </a:r>
            <a:endParaRPr lang="en-US" sz="1100" dirty="0"/>
          </a:p>
        </p:txBody>
      </p:sp>
      <p:sp>
        <p:nvSpPr>
          <p:cNvPr id="30" name="Text 28"/>
          <p:cNvSpPr/>
          <p:nvPr/>
        </p:nvSpPr>
        <p:spPr>
          <a:xfrm>
            <a:off x="5303520" y="4407408"/>
            <a:ext cx="3383280" cy="256032"/>
          </a:xfrm>
          <a:prstGeom prst="rect">
            <a:avLst/>
          </a:prstGeom>
          <a:noFill/>
          <a:ln/>
        </p:spPr>
        <p:txBody>
          <a:bodyPr wrap="square" lIns="0" tIns="0" rIns="0" bIns="0" rtlCol="0" anchor="t"/>
          <a:lstStyle/>
          <a:p>
            <a:pPr algn="l" indent="0" marL="0">
              <a:buNone/>
            </a:pPr>
            <a:r>
              <a:rPr lang="en-US" sz="1000" b="1" dirty="0">
                <a:solidFill>
                  <a:srgbClr val="14B8A6"/>
                </a:solidFill>
                <a:latin typeface="Calibri" pitchFamily="34" charset="0"/>
                <a:ea typeface="Calibri" pitchFamily="34" charset="-122"/>
                <a:cs typeface="Calibri" pitchFamily="34" charset="-120"/>
              </a:rPr>
              <a:t>We also need:</a:t>
            </a:r>
            <a:endParaRPr lang="en-US" sz="1000" dirty="0"/>
          </a:p>
        </p:txBody>
      </p:sp>
      <p:sp>
        <p:nvSpPr>
          <p:cNvPr id="31" name="Text 29"/>
          <p:cNvSpPr/>
          <p:nvPr/>
        </p:nvSpPr>
        <p:spPr>
          <a:xfrm>
            <a:off x="5303520" y="4645152"/>
            <a:ext cx="3383280" cy="256032"/>
          </a:xfrm>
          <a:prstGeom prst="rect">
            <a:avLst/>
          </a:prstGeom>
          <a:noFill/>
          <a:ln/>
        </p:spPr>
        <p:txBody>
          <a:bodyPr wrap="square" lIns="0" tIns="0" rIns="0" bIns="0" rtlCol="0" anchor="t"/>
          <a:lstStyle/>
          <a:p>
            <a:pPr algn="l" indent="0" marL="0">
              <a:buNone/>
            </a:pPr>
            <a:r>
              <a:rPr lang="en-US" sz="1000" dirty="0">
                <a:solidFill>
                  <a:srgbClr val="94A3B8"/>
                </a:solidFill>
                <a:latin typeface="Calibri" pitchFamily="34" charset="0"/>
                <a:ea typeface="Calibri" pitchFamily="34" charset="-122"/>
                <a:cs typeface="Calibri" pitchFamily="34" charset="-120"/>
              </a:rPr>
              <a:t>KIU IT access  ·  One professor partner for Fall 2026 pilot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KIU Nexus Pitch Deck</dc:title>
  <dc:subject>PptxGenJS Presentation</dc:subject>
  <dc:creator>KIU Capstone Team</dc:creator>
  <cp:lastModifiedBy>KIU Capstone Team</cp:lastModifiedBy>
  <cp:revision>1</cp:revision>
  <dcterms:created xsi:type="dcterms:W3CDTF">2026-06-10T20:51:25Z</dcterms:created>
  <dcterms:modified xsi:type="dcterms:W3CDTF">2026-06-10T20:51:25Z</dcterms:modified>
</cp:coreProperties>
</file>